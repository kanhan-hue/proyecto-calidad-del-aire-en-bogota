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1.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e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e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jpe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jpeg"/><Relationship Id="rId2" Type="http://schemas.openxmlformats.org/officeDocument/2006/relationships/image" Target="../media/image-11-2.jpeg"/><Relationship Id="rId3" Type="http://schemas.openxmlformats.org/officeDocument/2006/relationships/slideLayout" Target="../slideLayouts/slideLayout1.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slideLayout" Target="../slideLayouts/slideLayout1.xml"/><Relationship Id="rId5"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3262B"/>
        </a:solidFill>
      </p:bgPr>
    </p:bg>
    <p:spTree>
      <p:nvGrpSpPr>
        <p:cNvPr id="1" name=""/>
        <p:cNvGrpSpPr/>
        <p:nvPr/>
      </p:nvGrpSpPr>
      <p:grpSpPr>
        <a:xfrm>
          <a:off x="0" y="0"/>
          <a:ext cx="0" cy="0"/>
          <a:chOff x="0" y="0"/>
          <a:chExt cx="0" cy="0"/>
        </a:xfrm>
      </p:grpSpPr>
      <p:sp>
        <p:nvSpPr>
          <p:cNvPr id="2" name="Shape 0"/>
          <p:cNvSpPr/>
          <p:nvPr/>
        </p:nvSpPr>
        <p:spPr>
          <a:xfrm>
            <a:off x="10881360" y="0"/>
            <a:ext cx="1280160" cy="1714500"/>
          </a:xfrm>
          <a:prstGeom prst="rect">
            <a:avLst/>
          </a:prstGeom>
          <a:solidFill>
            <a:srgbClr val="27AE60">
              <a:alpha val="45000"/>
            </a:srgbClr>
          </a:solidFill>
          <a:ln/>
        </p:spPr>
      </p:sp>
      <p:sp>
        <p:nvSpPr>
          <p:cNvPr id="3" name="Shape 1"/>
          <p:cNvSpPr/>
          <p:nvPr/>
        </p:nvSpPr>
        <p:spPr>
          <a:xfrm>
            <a:off x="10881360" y="1714500"/>
            <a:ext cx="1280160" cy="1714500"/>
          </a:xfrm>
          <a:prstGeom prst="rect">
            <a:avLst/>
          </a:prstGeom>
          <a:solidFill>
            <a:srgbClr val="E9A23B">
              <a:alpha val="45000"/>
            </a:srgbClr>
          </a:solidFill>
          <a:ln/>
        </p:spPr>
      </p:sp>
      <p:sp>
        <p:nvSpPr>
          <p:cNvPr id="4" name="Shape 2"/>
          <p:cNvSpPr/>
          <p:nvPr/>
        </p:nvSpPr>
        <p:spPr>
          <a:xfrm>
            <a:off x="10881360" y="3429000"/>
            <a:ext cx="1280160" cy="1714500"/>
          </a:xfrm>
          <a:prstGeom prst="rect">
            <a:avLst/>
          </a:prstGeom>
          <a:solidFill>
            <a:srgbClr val="D97B2B">
              <a:alpha val="45000"/>
            </a:srgbClr>
          </a:solidFill>
          <a:ln/>
        </p:spPr>
      </p:sp>
      <p:sp>
        <p:nvSpPr>
          <p:cNvPr id="5" name="Shape 3"/>
          <p:cNvSpPr/>
          <p:nvPr/>
        </p:nvSpPr>
        <p:spPr>
          <a:xfrm>
            <a:off x="10881360" y="5143500"/>
            <a:ext cx="1280160" cy="1714500"/>
          </a:xfrm>
          <a:prstGeom prst="rect">
            <a:avLst/>
          </a:prstGeom>
          <a:solidFill>
            <a:srgbClr val="C0392B">
              <a:alpha val="45000"/>
            </a:srgbClr>
          </a:solidFill>
          <a:ln/>
        </p:spPr>
      </p:sp>
      <p:sp>
        <p:nvSpPr>
          <p:cNvPr id="6" name="Text 4"/>
          <p:cNvSpPr/>
          <p:nvPr/>
        </p:nvSpPr>
        <p:spPr>
          <a:xfrm>
            <a:off x="640080" y="1371600"/>
            <a:ext cx="8229600" cy="365760"/>
          </a:xfrm>
          <a:prstGeom prst="rect">
            <a:avLst/>
          </a:prstGeom>
          <a:noFill/>
          <a:ln/>
        </p:spPr>
        <p:txBody>
          <a:bodyPr wrap="square" rtlCol="0" anchor="ctr"/>
          <a:lstStyle/>
          <a:p>
            <a:pPr indent="0" marL="0">
              <a:buNone/>
            </a:pPr>
            <a:r>
              <a:rPr lang="en-US" sz="1300" b="1" spc="200" kern="0" dirty="0">
                <a:solidFill>
                  <a:srgbClr val="E9A23B"/>
                </a:solidFill>
                <a:latin typeface="Calibri" pitchFamily="34" charset="0"/>
                <a:ea typeface="Calibri" pitchFamily="34" charset="-122"/>
                <a:cs typeface="Calibri" pitchFamily="34" charset="-120"/>
              </a:rPr>
              <a:t>PROYECTO FINAL · DATAXPERIENCE · UNIVERSIDAD EAN</a:t>
            </a:r>
            <a:endParaRPr lang="en-US" sz="1300" dirty="0"/>
          </a:p>
        </p:txBody>
      </p:sp>
      <p:sp>
        <p:nvSpPr>
          <p:cNvPr id="7" name="Text 5"/>
          <p:cNvSpPr/>
          <p:nvPr/>
        </p:nvSpPr>
        <p:spPr>
          <a:xfrm>
            <a:off x="640080" y="1828800"/>
            <a:ext cx="9601200" cy="1280160"/>
          </a:xfrm>
          <a:prstGeom prst="rect">
            <a:avLst/>
          </a:prstGeom>
          <a:noFill/>
          <a:ln/>
        </p:spPr>
        <p:txBody>
          <a:bodyPr wrap="square" rtlCol="0" anchor="ctr"/>
          <a:lstStyle/>
          <a:p>
            <a:pPr indent="0" marL="0">
              <a:buNone/>
            </a:pPr>
            <a:r>
              <a:rPr lang="en-US" sz="4400" b="1" dirty="0">
                <a:solidFill>
                  <a:srgbClr val="FFFFFF"/>
                </a:solidFill>
                <a:latin typeface="Cambria" pitchFamily="34" charset="0"/>
                <a:ea typeface="Cambria" pitchFamily="34" charset="-122"/>
                <a:cs typeface="Cambria" pitchFamily="34" charset="-120"/>
              </a:rPr>
              <a:t>Calidad del aire en Bogotá</a:t>
            </a:r>
            <a:endParaRPr lang="en-US" sz="4400" dirty="0"/>
          </a:p>
        </p:txBody>
      </p:sp>
      <p:sp>
        <p:nvSpPr>
          <p:cNvPr id="8" name="Text 6"/>
          <p:cNvSpPr/>
          <p:nvPr/>
        </p:nvSpPr>
        <p:spPr>
          <a:xfrm>
            <a:off x="640080" y="2880360"/>
            <a:ext cx="9144000" cy="640080"/>
          </a:xfrm>
          <a:prstGeom prst="rect">
            <a:avLst/>
          </a:prstGeom>
          <a:noFill/>
          <a:ln/>
        </p:spPr>
        <p:txBody>
          <a:bodyPr wrap="square" rtlCol="0" anchor="ctr"/>
          <a:lstStyle/>
          <a:p>
            <a:pPr indent="0" marL="0">
              <a:buNone/>
            </a:pPr>
            <a:r>
              <a:rPr lang="en-US" sz="1900" i="1" dirty="0">
                <a:solidFill>
                  <a:srgbClr val="CADCE5"/>
                </a:solidFill>
                <a:latin typeface="Calibri" pitchFamily="34" charset="0"/>
                <a:ea typeface="Calibri" pitchFamily="34" charset="-122"/>
                <a:cs typeface="Calibri" pitchFamily="34" charset="-120"/>
              </a:rPr>
              <a:t>¿Cuándo es peligroso respirar, y quién debería saberlo?</a:t>
            </a:r>
            <a:endParaRPr lang="en-US" sz="1900" dirty="0"/>
          </a:p>
        </p:txBody>
      </p:sp>
      <p:sp>
        <p:nvSpPr>
          <p:cNvPr id="9" name="Shape 7"/>
          <p:cNvSpPr/>
          <p:nvPr/>
        </p:nvSpPr>
        <p:spPr>
          <a:xfrm>
            <a:off x="658368" y="3703320"/>
            <a:ext cx="2011680" cy="0"/>
          </a:xfrm>
          <a:prstGeom prst="line">
            <a:avLst/>
          </a:prstGeom>
          <a:noFill/>
          <a:ln w="25400">
            <a:solidFill>
              <a:srgbClr val="E9A23B"/>
            </a:solidFill>
            <a:prstDash val="solid"/>
          </a:ln>
        </p:spPr>
      </p:sp>
      <p:sp>
        <p:nvSpPr>
          <p:cNvPr id="10" name="Text 8"/>
          <p:cNvSpPr/>
          <p:nvPr/>
        </p:nvSpPr>
        <p:spPr>
          <a:xfrm>
            <a:off x="640080" y="3931920"/>
            <a:ext cx="7315200" cy="365760"/>
          </a:xfrm>
          <a:prstGeom prst="rect">
            <a:avLst/>
          </a:prstGeom>
          <a:noFill/>
          <a:ln/>
        </p:spPr>
        <p:txBody>
          <a:bodyPr wrap="square"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Javier Meneses  ·  Alejandra Baquero</a:t>
            </a:r>
            <a:endParaRPr lang="en-US" sz="1500" dirty="0"/>
          </a:p>
        </p:txBody>
      </p:sp>
      <p:sp>
        <p:nvSpPr>
          <p:cNvPr id="11" name="Text 9"/>
          <p:cNvSpPr/>
          <p:nvPr/>
        </p:nvSpPr>
        <p:spPr>
          <a:xfrm>
            <a:off x="640080" y="4343400"/>
            <a:ext cx="8229600" cy="365760"/>
          </a:xfrm>
          <a:prstGeom prst="rect">
            <a:avLst/>
          </a:prstGeom>
          <a:noFill/>
          <a:ln/>
        </p:spPr>
        <p:txBody>
          <a:bodyPr wrap="square" rtlCol="0" anchor="ctr"/>
          <a:lstStyle/>
          <a:p>
            <a:pPr indent="0" marL="0">
              <a:buNone/>
            </a:pPr>
            <a:r>
              <a:rPr lang="en-US" sz="1250" dirty="0">
                <a:solidFill>
                  <a:srgbClr val="9AA0A8"/>
                </a:solidFill>
                <a:latin typeface="Calibri" pitchFamily="34" charset="0"/>
                <a:ea typeface="Calibri" pitchFamily="34" charset="-122"/>
                <a:cs typeface="Calibri" pitchFamily="34" charset="-120"/>
              </a:rPr>
              <a:t>Docente: Camila Silva Gómez  ·  Facultad de Ingeniería  ·  Septiembre 2026</a:t>
            </a:r>
            <a:endParaRPr lang="en-US" sz="12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5F2"/>
        </a:solidFill>
      </p:bgPr>
    </p:bg>
    <p:spTree>
      <p:nvGrpSpPr>
        <p:cNvPr id="1" name=""/>
        <p:cNvGrpSpPr/>
        <p:nvPr/>
      </p:nvGrpSpPr>
      <p:grpSpPr>
        <a:xfrm>
          <a:off x="0" y="0"/>
          <a:ext cx="0" cy="0"/>
          <a:chOff x="0" y="0"/>
          <a:chExt cx="0" cy="0"/>
        </a:xfrm>
      </p:grpSpPr>
      <p:sp>
        <p:nvSpPr>
          <p:cNvPr id="2" name="Text 0"/>
          <p:cNvSpPr/>
          <p:nvPr/>
        </p:nvSpPr>
        <p:spPr>
          <a:xfrm>
            <a:off x="548640" y="457200"/>
            <a:ext cx="7315200" cy="320040"/>
          </a:xfrm>
          <a:prstGeom prst="rect">
            <a:avLst/>
          </a:prstGeom>
          <a:noFill/>
          <a:ln/>
        </p:spPr>
        <p:txBody>
          <a:bodyPr wrap="square" rtlCol="0" anchor="ctr"/>
          <a:lstStyle/>
          <a:p>
            <a:pPr indent="0" marL="0">
              <a:buNone/>
            </a:pPr>
            <a:r>
              <a:rPr lang="en-US" sz="1300" b="1" spc="200" kern="0" dirty="0">
                <a:solidFill>
                  <a:srgbClr val="E9A23B"/>
                </a:solidFill>
                <a:latin typeface="Calibri" pitchFamily="34" charset="0"/>
                <a:ea typeface="Calibri" pitchFamily="34" charset="-122"/>
                <a:cs typeface="Calibri" pitchFamily="34" charset="-120"/>
              </a:rPr>
              <a:t>EL PROBLEMA</a:t>
            </a:r>
            <a:endParaRPr lang="en-US" sz="1300" dirty="0"/>
          </a:p>
        </p:txBody>
      </p:sp>
      <p:sp>
        <p:nvSpPr>
          <p:cNvPr id="3" name="Text 1"/>
          <p:cNvSpPr/>
          <p:nvPr/>
        </p:nvSpPr>
        <p:spPr>
          <a:xfrm>
            <a:off x="548640" y="777240"/>
            <a:ext cx="10515600" cy="822960"/>
          </a:xfrm>
          <a:prstGeom prst="rect">
            <a:avLst/>
          </a:prstGeom>
          <a:noFill/>
          <a:ln/>
        </p:spPr>
        <p:txBody>
          <a:bodyPr wrap="square" rtlCol="0" anchor="ctr"/>
          <a:lstStyle/>
          <a:p>
            <a:pPr algn="l" indent="0" marL="0">
              <a:buNone/>
            </a:pPr>
            <a:r>
              <a:rPr lang="en-US" sz="3200" b="1" dirty="0">
                <a:solidFill>
                  <a:srgbClr val="23262B"/>
                </a:solidFill>
                <a:latin typeface="Cambria" pitchFamily="34" charset="0"/>
                <a:ea typeface="Cambria" pitchFamily="34" charset="-122"/>
                <a:cs typeface="Cambria" pitchFamily="34" charset="-120"/>
              </a:rPr>
              <a:t>Respirar en Bogotá no siempre es seguro</a:t>
            </a:r>
            <a:endParaRPr lang="en-US" sz="3200" dirty="0"/>
          </a:p>
        </p:txBody>
      </p:sp>
      <p:sp>
        <p:nvSpPr>
          <p:cNvPr id="4" name="Text 2"/>
          <p:cNvSpPr/>
          <p:nvPr/>
        </p:nvSpPr>
        <p:spPr>
          <a:xfrm>
            <a:off x="548640" y="1828800"/>
            <a:ext cx="6126480" cy="1737360"/>
          </a:xfrm>
          <a:prstGeom prst="rect">
            <a:avLst/>
          </a:prstGeom>
          <a:noFill/>
          <a:ln/>
        </p:spPr>
        <p:txBody>
          <a:bodyPr wrap="square" rtlCol="0" anchor="ctr"/>
          <a:lstStyle/>
          <a:p>
            <a:pPr indent="0" marL="0">
              <a:lnSpc>
                <a:spcPct val="125000"/>
              </a:lnSpc>
              <a:buNone/>
            </a:pPr>
            <a:r>
              <a:rPr lang="en-US" sz="1500" dirty="0">
                <a:solidFill>
                  <a:srgbClr val="23262B"/>
                </a:solidFill>
                <a:latin typeface="Calibri" pitchFamily="34" charset="0"/>
                <a:ea typeface="Calibri" pitchFamily="34" charset="-122"/>
                <a:cs typeface="Calibri" pitchFamily="34" charset="-120"/>
              </a:rPr>
              <a:t>La contaminación por PM2.5 —partículas finas que penetran hasta los pulmones— es uno de los principales riesgos ambientales para la salud respiratoria en las grandes ciudades. En Bogotá, la red de monitoreo (RMCAB) mide este contaminante en 27 puntos de la ciudad, pero la información rara vez llega de forma clara a quienes más la necesitan.</a:t>
            </a:r>
            <a:endParaRPr lang="en-US" sz="1500" dirty="0"/>
          </a:p>
        </p:txBody>
      </p:sp>
      <p:sp>
        <p:nvSpPr>
          <p:cNvPr id="5" name="Shape 3"/>
          <p:cNvSpPr/>
          <p:nvPr/>
        </p:nvSpPr>
        <p:spPr>
          <a:xfrm>
            <a:off x="548640" y="3749040"/>
            <a:ext cx="6126480" cy="1417320"/>
          </a:xfrm>
          <a:prstGeom prst="rect">
            <a:avLst/>
          </a:prstGeom>
          <a:solidFill>
            <a:srgbClr val="FFFFFF"/>
          </a:solidFill>
          <a:ln w="12700">
            <a:solidFill>
              <a:srgbClr val="E4E0D8"/>
            </a:solidFill>
            <a:prstDash val="solid"/>
          </a:ln>
          <a:effectLst>
            <a:outerShdw sx="100000" sy="100000" kx="0" ky="0" algn="bl" rotWithShape="0" blurRad="101600" dist="38100" dir="5400000">
              <a:srgbClr val="000000">
                <a:alpha val="12000"/>
              </a:srgbClr>
            </a:outerShdw>
          </a:effectLst>
        </p:spPr>
      </p:sp>
      <p:sp>
        <p:nvSpPr>
          <p:cNvPr id="6" name="Text 4"/>
          <p:cNvSpPr/>
          <p:nvPr/>
        </p:nvSpPr>
        <p:spPr>
          <a:xfrm>
            <a:off x="822960" y="3886200"/>
            <a:ext cx="5577840" cy="320040"/>
          </a:xfrm>
          <a:prstGeom prst="rect">
            <a:avLst/>
          </a:prstGeom>
          <a:noFill/>
          <a:ln/>
        </p:spPr>
        <p:txBody>
          <a:bodyPr wrap="square" rtlCol="0" anchor="ctr"/>
          <a:lstStyle/>
          <a:p>
            <a:pPr indent="0" marL="0">
              <a:buNone/>
            </a:pPr>
            <a:r>
              <a:rPr lang="en-US" sz="1250" b="1" dirty="0">
                <a:solidFill>
                  <a:srgbClr val="E9A23B"/>
                </a:solidFill>
                <a:latin typeface="Calibri" pitchFamily="34" charset="0"/>
                <a:ea typeface="Calibri" pitchFamily="34" charset="-122"/>
                <a:cs typeface="Calibri" pitchFamily="34" charset="-120"/>
              </a:rPr>
              <a:t>Pregunta de investigación</a:t>
            </a:r>
            <a:endParaRPr lang="en-US" sz="1250" dirty="0"/>
          </a:p>
        </p:txBody>
      </p:sp>
      <p:sp>
        <p:nvSpPr>
          <p:cNvPr id="7" name="Text 5"/>
          <p:cNvSpPr/>
          <p:nvPr/>
        </p:nvSpPr>
        <p:spPr>
          <a:xfrm>
            <a:off x="822960" y="4206240"/>
            <a:ext cx="5577840" cy="868680"/>
          </a:xfrm>
          <a:prstGeom prst="rect">
            <a:avLst/>
          </a:prstGeom>
          <a:noFill/>
          <a:ln/>
        </p:spPr>
        <p:txBody>
          <a:bodyPr wrap="square" rtlCol="0" anchor="ctr"/>
          <a:lstStyle/>
          <a:p>
            <a:pPr indent="0" marL="0">
              <a:lnSpc>
                <a:spcPct val="120000"/>
              </a:lnSpc>
              <a:buNone/>
            </a:pPr>
            <a:r>
              <a:rPr lang="en-US" sz="1550" i="1" dirty="0">
                <a:solidFill>
                  <a:srgbClr val="23262B"/>
                </a:solidFill>
                <a:latin typeface="Cambria" pitchFamily="34" charset="0"/>
                <a:ea typeface="Cambria" pitchFamily="34" charset="-122"/>
                <a:cs typeface="Cambria" pitchFamily="34" charset="-120"/>
              </a:rPr>
              <a:t>¿En qué zonas y meses del año se concentran los picos de PM2.5 en Bogotá, y qué debería hacer al respecto una persona con enfermedad respiratoria?</a:t>
            </a:r>
            <a:endParaRPr lang="en-US" sz="1550" dirty="0"/>
          </a:p>
        </p:txBody>
      </p:sp>
      <p:sp>
        <p:nvSpPr>
          <p:cNvPr id="8" name="Shape 6"/>
          <p:cNvSpPr/>
          <p:nvPr/>
        </p:nvSpPr>
        <p:spPr>
          <a:xfrm>
            <a:off x="7086600" y="1828800"/>
            <a:ext cx="4526280" cy="4206240"/>
          </a:xfrm>
          <a:prstGeom prst="rect">
            <a:avLst/>
          </a:prstGeom>
          <a:solidFill>
            <a:srgbClr val="23262B"/>
          </a:solidFill>
          <a:ln/>
        </p:spPr>
      </p:sp>
      <p:sp>
        <p:nvSpPr>
          <p:cNvPr id="9" name="Text 7"/>
          <p:cNvSpPr/>
          <p:nvPr/>
        </p:nvSpPr>
        <p:spPr>
          <a:xfrm>
            <a:off x="7406640" y="2057400"/>
            <a:ext cx="3931920" cy="365760"/>
          </a:xfrm>
          <a:prstGeom prst="rect">
            <a:avLst/>
          </a:prstGeom>
          <a:noFill/>
          <a:ln/>
        </p:spPr>
        <p:txBody>
          <a:bodyPr wrap="square" rtlCol="0" anchor="ctr"/>
          <a:lstStyle/>
          <a:p>
            <a:pPr indent="0" marL="0">
              <a:buNone/>
            </a:pPr>
            <a:r>
              <a:rPr lang="en-US" sz="1300" b="1" dirty="0">
                <a:solidFill>
                  <a:srgbClr val="E9A23B"/>
                </a:solidFill>
                <a:latin typeface="Calibri" pitchFamily="34" charset="0"/>
                <a:ea typeface="Calibri" pitchFamily="34" charset="-122"/>
                <a:cs typeface="Calibri" pitchFamily="34" charset="-120"/>
              </a:rPr>
              <a:t>¿A quién afecta más?</a:t>
            </a:r>
            <a:endParaRPr lang="en-US" sz="1300" dirty="0"/>
          </a:p>
        </p:txBody>
      </p:sp>
      <p:sp>
        <p:nvSpPr>
          <p:cNvPr id="10" name="Shape 8"/>
          <p:cNvSpPr/>
          <p:nvPr/>
        </p:nvSpPr>
        <p:spPr>
          <a:xfrm>
            <a:off x="7406640" y="2606040"/>
            <a:ext cx="502920" cy="502920"/>
          </a:xfrm>
          <a:prstGeom prst="ellipse">
            <a:avLst/>
          </a:prstGeom>
          <a:solidFill>
            <a:srgbClr val="E9A23B"/>
          </a:solidFill>
          <a:ln/>
        </p:spPr>
      </p:sp>
      <p:pic>
        <p:nvPicPr>
          <p:cNvPr id="11" name="Image 0" descr="icons/lungs.png">    </p:cNvPr>
          <p:cNvPicPr>
            <a:picLocks noChangeAspect="1"/>
          </p:cNvPicPr>
          <p:nvPr/>
        </p:nvPicPr>
        <p:blipFill>
          <a:blip r:embed="rId1"/>
          <a:stretch>
            <a:fillRect/>
          </a:stretch>
        </p:blipFill>
        <p:spPr>
          <a:xfrm>
            <a:off x="7472020" y="2671420"/>
            <a:ext cx="372161" cy="372161"/>
          </a:xfrm>
          <a:prstGeom prst="rect">
            <a:avLst/>
          </a:prstGeom>
        </p:spPr>
      </p:pic>
      <p:sp>
        <p:nvSpPr>
          <p:cNvPr id="12" name="Text 9"/>
          <p:cNvSpPr/>
          <p:nvPr/>
        </p:nvSpPr>
        <p:spPr>
          <a:xfrm>
            <a:off x="8092440" y="2633472"/>
            <a:ext cx="3383280" cy="457200"/>
          </a:xfrm>
          <a:prstGeom prst="rect">
            <a:avLst/>
          </a:prstGeom>
          <a:noFill/>
          <a:ln/>
        </p:spPr>
        <p:txBody>
          <a:bodyPr wrap="square" rtlCol="0" anchor="ctr"/>
          <a:lstStyle/>
          <a:p>
            <a:pPr indent="0" marL="0">
              <a:buNone/>
            </a:pPr>
            <a:r>
              <a:rPr lang="en-US" sz="1350" dirty="0">
                <a:solidFill>
                  <a:srgbClr val="FFFFFF"/>
                </a:solidFill>
                <a:latin typeface="Calibri" pitchFamily="34" charset="0"/>
                <a:ea typeface="Calibri" pitchFamily="34" charset="-122"/>
                <a:cs typeface="Calibri" pitchFamily="34" charset="-120"/>
              </a:rPr>
              <a:t>Personas con asma o EPOC</a:t>
            </a:r>
            <a:endParaRPr lang="en-US" sz="1350" dirty="0"/>
          </a:p>
        </p:txBody>
      </p:sp>
      <p:sp>
        <p:nvSpPr>
          <p:cNvPr id="13" name="Shape 10"/>
          <p:cNvSpPr/>
          <p:nvPr/>
        </p:nvSpPr>
        <p:spPr>
          <a:xfrm>
            <a:off x="7406640" y="3429000"/>
            <a:ext cx="502920" cy="502920"/>
          </a:xfrm>
          <a:prstGeom prst="ellipse">
            <a:avLst/>
          </a:prstGeom>
          <a:solidFill>
            <a:srgbClr val="E9A23B"/>
          </a:solidFill>
          <a:ln/>
        </p:spPr>
      </p:sp>
      <p:pic>
        <p:nvPicPr>
          <p:cNvPr id="14" name="Image 1" descr="icons/child.png">    </p:cNvPr>
          <p:cNvPicPr>
            <a:picLocks noChangeAspect="1"/>
          </p:cNvPicPr>
          <p:nvPr/>
        </p:nvPicPr>
        <p:blipFill>
          <a:blip r:embed="rId2"/>
          <a:stretch>
            <a:fillRect/>
          </a:stretch>
        </p:blipFill>
        <p:spPr>
          <a:xfrm>
            <a:off x="7472020" y="3494380"/>
            <a:ext cx="372161" cy="372161"/>
          </a:xfrm>
          <a:prstGeom prst="rect">
            <a:avLst/>
          </a:prstGeom>
        </p:spPr>
      </p:pic>
      <p:sp>
        <p:nvSpPr>
          <p:cNvPr id="15" name="Text 11"/>
          <p:cNvSpPr/>
          <p:nvPr/>
        </p:nvSpPr>
        <p:spPr>
          <a:xfrm>
            <a:off x="8092440" y="3456432"/>
            <a:ext cx="3383280" cy="457200"/>
          </a:xfrm>
          <a:prstGeom prst="rect">
            <a:avLst/>
          </a:prstGeom>
          <a:noFill/>
          <a:ln/>
        </p:spPr>
        <p:txBody>
          <a:bodyPr wrap="square" rtlCol="0" anchor="ctr"/>
          <a:lstStyle/>
          <a:p>
            <a:pPr indent="0" marL="0">
              <a:buNone/>
            </a:pPr>
            <a:r>
              <a:rPr lang="en-US" sz="1350" dirty="0">
                <a:solidFill>
                  <a:srgbClr val="FFFFFF"/>
                </a:solidFill>
                <a:latin typeface="Calibri" pitchFamily="34" charset="0"/>
                <a:ea typeface="Calibri" pitchFamily="34" charset="-122"/>
                <a:cs typeface="Calibri" pitchFamily="34" charset="-120"/>
              </a:rPr>
              <a:t>Niños en desarrollo respiratorio</a:t>
            </a:r>
            <a:endParaRPr lang="en-US" sz="1350" dirty="0"/>
          </a:p>
        </p:txBody>
      </p:sp>
      <p:sp>
        <p:nvSpPr>
          <p:cNvPr id="16" name="Shape 12"/>
          <p:cNvSpPr/>
          <p:nvPr/>
        </p:nvSpPr>
        <p:spPr>
          <a:xfrm>
            <a:off x="7406640" y="4251960"/>
            <a:ext cx="502920" cy="502920"/>
          </a:xfrm>
          <a:prstGeom prst="ellipse">
            <a:avLst/>
          </a:prstGeom>
          <a:solidFill>
            <a:srgbClr val="E9A23B"/>
          </a:solidFill>
          <a:ln/>
        </p:spPr>
      </p:sp>
      <p:pic>
        <p:nvPicPr>
          <p:cNvPr id="17" name="Image 2" descr="icons/elder.png">    </p:cNvPr>
          <p:cNvPicPr>
            <a:picLocks noChangeAspect="1"/>
          </p:cNvPicPr>
          <p:nvPr/>
        </p:nvPicPr>
        <p:blipFill>
          <a:blip r:embed="rId3"/>
          <a:stretch>
            <a:fillRect/>
          </a:stretch>
        </p:blipFill>
        <p:spPr>
          <a:xfrm>
            <a:off x="7472020" y="4317340"/>
            <a:ext cx="372161" cy="372161"/>
          </a:xfrm>
          <a:prstGeom prst="rect">
            <a:avLst/>
          </a:prstGeom>
        </p:spPr>
      </p:pic>
      <p:sp>
        <p:nvSpPr>
          <p:cNvPr id="18" name="Text 13"/>
          <p:cNvSpPr/>
          <p:nvPr/>
        </p:nvSpPr>
        <p:spPr>
          <a:xfrm>
            <a:off x="8092440" y="4279392"/>
            <a:ext cx="3383280" cy="457200"/>
          </a:xfrm>
          <a:prstGeom prst="rect">
            <a:avLst/>
          </a:prstGeom>
          <a:noFill/>
          <a:ln/>
        </p:spPr>
        <p:txBody>
          <a:bodyPr wrap="square" rtlCol="0" anchor="ctr"/>
          <a:lstStyle/>
          <a:p>
            <a:pPr indent="0" marL="0">
              <a:buNone/>
            </a:pPr>
            <a:r>
              <a:rPr lang="en-US" sz="1350" dirty="0">
                <a:solidFill>
                  <a:srgbClr val="FFFFFF"/>
                </a:solidFill>
                <a:latin typeface="Calibri" pitchFamily="34" charset="0"/>
                <a:ea typeface="Calibri" pitchFamily="34" charset="-122"/>
                <a:cs typeface="Calibri" pitchFamily="34" charset="-120"/>
              </a:rPr>
              <a:t>Adultos mayores</a:t>
            </a:r>
            <a:endParaRPr lang="en-US" sz="1350" dirty="0"/>
          </a:p>
        </p:txBody>
      </p:sp>
      <p:sp>
        <p:nvSpPr>
          <p:cNvPr id="19" name="Shape 14"/>
          <p:cNvSpPr/>
          <p:nvPr/>
        </p:nvSpPr>
        <p:spPr>
          <a:xfrm>
            <a:off x="7406640" y="5074920"/>
            <a:ext cx="502920" cy="502920"/>
          </a:xfrm>
          <a:prstGeom prst="ellipse">
            <a:avLst/>
          </a:prstGeom>
          <a:solidFill>
            <a:srgbClr val="E9A23B"/>
          </a:solidFill>
          <a:ln/>
        </p:spPr>
      </p:sp>
      <p:pic>
        <p:nvPicPr>
          <p:cNvPr id="20" name="Image 3" descr="icons/hospital.png">    </p:cNvPr>
          <p:cNvPicPr>
            <a:picLocks noChangeAspect="1"/>
          </p:cNvPicPr>
          <p:nvPr/>
        </p:nvPicPr>
        <p:blipFill>
          <a:blip r:embed="rId4"/>
          <a:stretch>
            <a:fillRect/>
          </a:stretch>
        </p:blipFill>
        <p:spPr>
          <a:xfrm>
            <a:off x="7472020" y="5140300"/>
            <a:ext cx="372161" cy="372161"/>
          </a:xfrm>
          <a:prstGeom prst="rect">
            <a:avLst/>
          </a:prstGeom>
        </p:spPr>
      </p:pic>
      <p:sp>
        <p:nvSpPr>
          <p:cNvPr id="21" name="Text 15"/>
          <p:cNvSpPr/>
          <p:nvPr/>
        </p:nvSpPr>
        <p:spPr>
          <a:xfrm>
            <a:off x="8092440" y="5102352"/>
            <a:ext cx="3383280" cy="457200"/>
          </a:xfrm>
          <a:prstGeom prst="rect">
            <a:avLst/>
          </a:prstGeom>
          <a:noFill/>
          <a:ln/>
        </p:spPr>
        <p:txBody>
          <a:bodyPr wrap="square" rtlCol="0" anchor="ctr"/>
          <a:lstStyle/>
          <a:p>
            <a:pPr indent="0" marL="0">
              <a:buNone/>
            </a:pPr>
            <a:r>
              <a:rPr lang="en-US" sz="1350" dirty="0">
                <a:solidFill>
                  <a:srgbClr val="FFFFFF"/>
                </a:solidFill>
                <a:latin typeface="Calibri" pitchFamily="34" charset="0"/>
                <a:ea typeface="Calibri" pitchFamily="34" charset="-122"/>
                <a:cs typeface="Calibri" pitchFamily="34" charset="-120"/>
              </a:rPr>
              <a:t>Cuidadores y personal de salud</a:t>
            </a:r>
            <a:endParaRPr lang="en-US" sz="1350" dirty="0"/>
          </a:p>
        </p:txBody>
      </p:sp>
      <p:sp>
        <p:nvSpPr>
          <p:cNvPr id="22" name="Text 16"/>
          <p:cNvSpPr/>
          <p:nvPr/>
        </p:nvSpPr>
        <p:spPr>
          <a:xfrm>
            <a:off x="11475720" y="6473952"/>
            <a:ext cx="548640" cy="274320"/>
          </a:xfrm>
          <a:prstGeom prst="rect">
            <a:avLst/>
          </a:prstGeom>
          <a:noFill/>
          <a:ln/>
        </p:spPr>
        <p:txBody>
          <a:bodyPr wrap="square" rtlCol="0" anchor="ctr"/>
          <a:lstStyle/>
          <a:p>
            <a:pPr algn="r" indent="0" marL="0">
              <a:buNone/>
            </a:pPr>
            <a:r>
              <a:rPr lang="en-US" sz="1000" dirty="0">
                <a:solidFill>
                  <a:srgbClr val="6B7078"/>
                </a:solidFill>
                <a:latin typeface="Calibri" pitchFamily="34" charset="0"/>
                <a:ea typeface="Calibri" pitchFamily="34" charset="-122"/>
                <a:cs typeface="Calibri" pitchFamily="34" charset="-120"/>
              </a:rPr>
              <a:t>02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5F2"/>
        </a:solidFill>
      </p:bgPr>
    </p:bg>
    <p:spTree>
      <p:nvGrpSpPr>
        <p:cNvPr id="1" name=""/>
        <p:cNvGrpSpPr/>
        <p:nvPr/>
      </p:nvGrpSpPr>
      <p:grpSpPr>
        <a:xfrm>
          <a:off x="0" y="0"/>
          <a:ext cx="0" cy="0"/>
          <a:chOff x="0" y="0"/>
          <a:chExt cx="0" cy="0"/>
        </a:xfrm>
      </p:grpSpPr>
      <p:sp>
        <p:nvSpPr>
          <p:cNvPr id="2" name="Text 0"/>
          <p:cNvSpPr/>
          <p:nvPr/>
        </p:nvSpPr>
        <p:spPr>
          <a:xfrm>
            <a:off x="548640" y="457200"/>
            <a:ext cx="7315200" cy="320040"/>
          </a:xfrm>
          <a:prstGeom prst="rect">
            <a:avLst/>
          </a:prstGeom>
          <a:noFill/>
          <a:ln/>
        </p:spPr>
        <p:txBody>
          <a:bodyPr wrap="square" rtlCol="0" anchor="ctr"/>
          <a:lstStyle/>
          <a:p>
            <a:pPr indent="0" marL="0">
              <a:buNone/>
            </a:pPr>
            <a:r>
              <a:rPr lang="en-US" sz="1300" b="1" spc="200" kern="0" dirty="0">
                <a:solidFill>
                  <a:srgbClr val="E9A23B"/>
                </a:solidFill>
                <a:latin typeface="Calibri" pitchFamily="34" charset="0"/>
                <a:ea typeface="Calibri" pitchFamily="34" charset="-122"/>
                <a:cs typeface="Calibri" pitchFamily="34" charset="-120"/>
              </a:rPr>
              <a:t>PLANTEAMIENTO</a:t>
            </a:r>
            <a:endParaRPr lang="en-US" sz="1300" dirty="0"/>
          </a:p>
        </p:txBody>
      </p:sp>
      <p:sp>
        <p:nvSpPr>
          <p:cNvPr id="3" name="Text 1"/>
          <p:cNvSpPr/>
          <p:nvPr/>
        </p:nvSpPr>
        <p:spPr>
          <a:xfrm>
            <a:off x="548640" y="777240"/>
            <a:ext cx="10515600" cy="822960"/>
          </a:xfrm>
          <a:prstGeom prst="rect">
            <a:avLst/>
          </a:prstGeom>
          <a:noFill/>
          <a:ln/>
        </p:spPr>
        <p:txBody>
          <a:bodyPr wrap="square" rtlCol="0" anchor="ctr"/>
          <a:lstStyle/>
          <a:p>
            <a:pPr algn="l" indent="0" marL="0">
              <a:buNone/>
            </a:pPr>
            <a:r>
              <a:rPr lang="en-US" sz="3200" b="1" dirty="0">
                <a:solidFill>
                  <a:srgbClr val="23262B"/>
                </a:solidFill>
                <a:latin typeface="Cambria" pitchFamily="34" charset="0"/>
                <a:ea typeface="Cambria" pitchFamily="34" charset="-122"/>
                <a:cs typeface="Cambria" pitchFamily="34" charset="-120"/>
              </a:rPr>
              <a:t>Objetivo del proyecto</a:t>
            </a:r>
            <a:endParaRPr lang="en-US" sz="3200" dirty="0"/>
          </a:p>
        </p:txBody>
      </p:sp>
      <p:sp>
        <p:nvSpPr>
          <p:cNvPr id="4" name="Shape 2"/>
          <p:cNvSpPr/>
          <p:nvPr/>
        </p:nvSpPr>
        <p:spPr>
          <a:xfrm>
            <a:off x="548640" y="1828800"/>
            <a:ext cx="10881360" cy="1188720"/>
          </a:xfrm>
          <a:prstGeom prst="rect">
            <a:avLst/>
          </a:prstGeom>
          <a:solidFill>
            <a:srgbClr val="FFFFFF"/>
          </a:solidFill>
          <a:ln w="12700">
            <a:solidFill>
              <a:srgbClr val="E4E0D8"/>
            </a:solidFill>
            <a:prstDash val="solid"/>
          </a:ln>
        </p:spPr>
      </p:sp>
      <p:sp>
        <p:nvSpPr>
          <p:cNvPr id="5" name="Shape 3"/>
          <p:cNvSpPr/>
          <p:nvPr/>
        </p:nvSpPr>
        <p:spPr>
          <a:xfrm>
            <a:off x="822960" y="2057400"/>
            <a:ext cx="731520" cy="731520"/>
          </a:xfrm>
          <a:prstGeom prst="ellipse">
            <a:avLst/>
          </a:prstGeom>
          <a:solidFill>
            <a:srgbClr val="E9A23B"/>
          </a:solidFill>
          <a:ln/>
        </p:spPr>
      </p:sp>
      <p:pic>
        <p:nvPicPr>
          <p:cNvPr id="6" name="Image 0" descr="icons/chart.png">    </p:cNvPr>
          <p:cNvPicPr>
            <a:picLocks noChangeAspect="1"/>
          </p:cNvPicPr>
          <p:nvPr/>
        </p:nvPicPr>
        <p:blipFill>
          <a:blip r:embed="rId1"/>
          <a:stretch>
            <a:fillRect/>
          </a:stretch>
        </p:blipFill>
        <p:spPr>
          <a:xfrm>
            <a:off x="918058" y="2152498"/>
            <a:ext cx="541325" cy="541325"/>
          </a:xfrm>
          <a:prstGeom prst="rect">
            <a:avLst/>
          </a:prstGeom>
        </p:spPr>
      </p:pic>
      <p:sp>
        <p:nvSpPr>
          <p:cNvPr id="7" name="Text 4"/>
          <p:cNvSpPr/>
          <p:nvPr/>
        </p:nvSpPr>
        <p:spPr>
          <a:xfrm>
            <a:off x="1737360" y="1965960"/>
            <a:ext cx="9418320" cy="960120"/>
          </a:xfrm>
          <a:prstGeom prst="rect">
            <a:avLst/>
          </a:prstGeom>
          <a:noFill/>
          <a:ln/>
        </p:spPr>
        <p:txBody>
          <a:bodyPr wrap="square" rtlCol="0" anchor="ctr"/>
          <a:lstStyle/>
          <a:p>
            <a:pPr indent="0" marL="0">
              <a:lnSpc>
                <a:spcPct val="120000"/>
              </a:lnSpc>
              <a:buNone/>
            </a:pPr>
            <a:r>
              <a:rPr lang="en-US" sz="1450" dirty="0">
                <a:solidFill>
                  <a:srgbClr val="23262B"/>
                </a:solidFill>
                <a:latin typeface="Calibri" pitchFamily="34" charset="0"/>
                <a:ea typeface="Calibri" pitchFamily="34" charset="-122"/>
                <a:cs typeface="Calibri" pitchFamily="34" charset="-120"/>
              </a:rPr>
              <a:t>Analizar los registros diarios de PM2.5 de las 27 estaciones de monitoreo de Bogotá para identificar en qué zonas y periodos del año la calidad del aire representa un riesgo mayor para la salud respiratoria, y traducir ese hallazgo en una recomendación clara para la población más vulnerable.</a:t>
            </a:r>
            <a:endParaRPr lang="en-US" sz="1450" dirty="0"/>
          </a:p>
        </p:txBody>
      </p:sp>
      <p:sp>
        <p:nvSpPr>
          <p:cNvPr id="8" name="Shape 5"/>
          <p:cNvSpPr/>
          <p:nvPr/>
        </p:nvSpPr>
        <p:spPr>
          <a:xfrm>
            <a:off x="548640" y="3383280"/>
            <a:ext cx="3474720" cy="2651760"/>
          </a:xfrm>
          <a:prstGeom prst="rect">
            <a:avLst/>
          </a:prstGeom>
          <a:solidFill>
            <a:srgbClr val="FFFFFF"/>
          </a:solidFill>
          <a:ln w="12700">
            <a:solidFill>
              <a:srgbClr val="E4E0D8"/>
            </a:solidFill>
            <a:prstDash val="solid"/>
          </a:ln>
          <a:effectLst>
            <a:outerShdw sx="100000" sy="100000" kx="0" ky="0" algn="bl" rotWithShape="0" blurRad="76200" dist="25400" dir="5400000">
              <a:srgbClr val="000000">
                <a:alpha val="10000"/>
              </a:srgbClr>
            </a:outerShdw>
          </a:effectLst>
        </p:spPr>
      </p:sp>
      <p:sp>
        <p:nvSpPr>
          <p:cNvPr id="9" name="Shape 6"/>
          <p:cNvSpPr/>
          <p:nvPr/>
        </p:nvSpPr>
        <p:spPr>
          <a:xfrm>
            <a:off x="868680" y="3611880"/>
            <a:ext cx="640080" cy="640080"/>
          </a:xfrm>
          <a:prstGeom prst="ellipse">
            <a:avLst/>
          </a:prstGeom>
          <a:solidFill>
            <a:srgbClr val="C0392B"/>
          </a:solidFill>
          <a:ln/>
        </p:spPr>
      </p:sp>
      <p:pic>
        <p:nvPicPr>
          <p:cNvPr id="10" name="Image 1" descr="icons/map.png">    </p:cNvPr>
          <p:cNvPicPr>
            <a:picLocks noChangeAspect="1"/>
          </p:cNvPicPr>
          <p:nvPr/>
        </p:nvPicPr>
        <p:blipFill>
          <a:blip r:embed="rId2"/>
          <a:stretch>
            <a:fillRect/>
          </a:stretch>
        </p:blipFill>
        <p:spPr>
          <a:xfrm>
            <a:off x="951890" y="3695090"/>
            <a:ext cx="473659" cy="473659"/>
          </a:xfrm>
          <a:prstGeom prst="rect">
            <a:avLst/>
          </a:prstGeom>
        </p:spPr>
      </p:pic>
      <p:sp>
        <p:nvSpPr>
          <p:cNvPr id="11" name="Text 7"/>
          <p:cNvSpPr/>
          <p:nvPr/>
        </p:nvSpPr>
        <p:spPr>
          <a:xfrm>
            <a:off x="822960" y="4389120"/>
            <a:ext cx="2926080" cy="365760"/>
          </a:xfrm>
          <a:prstGeom prst="rect">
            <a:avLst/>
          </a:prstGeom>
          <a:noFill/>
          <a:ln/>
        </p:spPr>
        <p:txBody>
          <a:bodyPr wrap="square" rtlCol="0" anchor="ctr"/>
          <a:lstStyle/>
          <a:p>
            <a:pPr indent="0" marL="0">
              <a:buNone/>
            </a:pPr>
            <a:r>
              <a:rPr lang="en-US" sz="1400" b="1" dirty="0">
                <a:solidFill>
                  <a:srgbClr val="23262B"/>
                </a:solidFill>
                <a:latin typeface="Calibri" pitchFamily="34" charset="0"/>
                <a:ea typeface="Calibri" pitchFamily="34" charset="-122"/>
                <a:cs typeface="Calibri" pitchFamily="34" charset="-120"/>
              </a:rPr>
              <a:t>Público objetivo</a:t>
            </a:r>
            <a:endParaRPr lang="en-US" sz="1400" dirty="0"/>
          </a:p>
        </p:txBody>
      </p:sp>
      <p:sp>
        <p:nvSpPr>
          <p:cNvPr id="12" name="Text 8"/>
          <p:cNvSpPr/>
          <p:nvPr/>
        </p:nvSpPr>
        <p:spPr>
          <a:xfrm>
            <a:off x="822960" y="4754880"/>
            <a:ext cx="2971800" cy="1188720"/>
          </a:xfrm>
          <a:prstGeom prst="rect">
            <a:avLst/>
          </a:prstGeom>
          <a:noFill/>
          <a:ln/>
        </p:spPr>
        <p:txBody>
          <a:bodyPr wrap="square" rtlCol="0" anchor="ctr"/>
          <a:lstStyle/>
          <a:p>
            <a:pPr indent="0" marL="0">
              <a:lnSpc>
                <a:spcPct val="120000"/>
              </a:lnSpc>
              <a:buNone/>
            </a:pPr>
            <a:r>
              <a:rPr lang="en-US" sz="1250" dirty="0">
                <a:solidFill>
                  <a:srgbClr val="6B7078"/>
                </a:solidFill>
                <a:latin typeface="Calibri" pitchFamily="34" charset="0"/>
                <a:ea typeface="Calibri" pitchFamily="34" charset="-122"/>
                <a:cs typeface="Calibri" pitchFamily="34" charset="-120"/>
              </a:rPr>
              <a:t>Personas con enfermedad respiratoria, adultos mayores, niños y sus cuidadores.</a:t>
            </a:r>
            <a:endParaRPr lang="en-US" sz="1250" dirty="0"/>
          </a:p>
        </p:txBody>
      </p:sp>
      <p:sp>
        <p:nvSpPr>
          <p:cNvPr id="13" name="Shape 9"/>
          <p:cNvSpPr/>
          <p:nvPr/>
        </p:nvSpPr>
        <p:spPr>
          <a:xfrm>
            <a:off x="4251960" y="3383280"/>
            <a:ext cx="3474720" cy="2651760"/>
          </a:xfrm>
          <a:prstGeom prst="rect">
            <a:avLst/>
          </a:prstGeom>
          <a:solidFill>
            <a:srgbClr val="FFFFFF"/>
          </a:solidFill>
          <a:ln w="12700">
            <a:solidFill>
              <a:srgbClr val="E4E0D8"/>
            </a:solidFill>
            <a:prstDash val="solid"/>
          </a:ln>
          <a:effectLst>
            <a:outerShdw sx="100000" sy="100000" kx="0" ky="0" algn="bl" rotWithShape="0" blurRad="76200" dist="25400" dir="5400000">
              <a:srgbClr val="000000">
                <a:alpha val="10000"/>
              </a:srgbClr>
            </a:outerShdw>
          </a:effectLst>
        </p:spPr>
      </p:sp>
      <p:sp>
        <p:nvSpPr>
          <p:cNvPr id="14" name="Shape 10"/>
          <p:cNvSpPr/>
          <p:nvPr/>
        </p:nvSpPr>
        <p:spPr>
          <a:xfrm>
            <a:off x="4572000" y="3611880"/>
            <a:ext cx="640080" cy="640080"/>
          </a:xfrm>
          <a:prstGeom prst="ellipse">
            <a:avLst/>
          </a:prstGeom>
          <a:solidFill>
            <a:srgbClr val="E9A23B"/>
          </a:solidFill>
          <a:ln/>
        </p:spPr>
      </p:sp>
      <p:pic>
        <p:nvPicPr>
          <p:cNvPr id="15" name="Image 2" descr="icons/clipboard.png">    </p:cNvPr>
          <p:cNvPicPr>
            <a:picLocks noChangeAspect="1"/>
          </p:cNvPicPr>
          <p:nvPr/>
        </p:nvPicPr>
        <p:blipFill>
          <a:blip r:embed="rId3"/>
          <a:stretch>
            <a:fillRect/>
          </a:stretch>
        </p:blipFill>
        <p:spPr>
          <a:xfrm>
            <a:off x="4655210" y="3695090"/>
            <a:ext cx="473659" cy="473659"/>
          </a:xfrm>
          <a:prstGeom prst="rect">
            <a:avLst/>
          </a:prstGeom>
        </p:spPr>
      </p:pic>
      <p:sp>
        <p:nvSpPr>
          <p:cNvPr id="16" name="Text 11"/>
          <p:cNvSpPr/>
          <p:nvPr/>
        </p:nvSpPr>
        <p:spPr>
          <a:xfrm>
            <a:off x="4526280" y="4389120"/>
            <a:ext cx="2926080" cy="365760"/>
          </a:xfrm>
          <a:prstGeom prst="rect">
            <a:avLst/>
          </a:prstGeom>
          <a:noFill/>
          <a:ln/>
        </p:spPr>
        <p:txBody>
          <a:bodyPr wrap="square" rtlCol="0" anchor="ctr"/>
          <a:lstStyle/>
          <a:p>
            <a:pPr indent="0" marL="0">
              <a:buNone/>
            </a:pPr>
            <a:r>
              <a:rPr lang="en-US" sz="1400" b="1" dirty="0">
                <a:solidFill>
                  <a:srgbClr val="23262B"/>
                </a:solidFill>
                <a:latin typeface="Calibri" pitchFamily="34" charset="0"/>
                <a:ea typeface="Calibri" pitchFamily="34" charset="-122"/>
                <a:cs typeface="Calibri" pitchFamily="34" charset="-120"/>
              </a:rPr>
              <a:t>Decisión que informa</a:t>
            </a:r>
            <a:endParaRPr lang="en-US" sz="1400" dirty="0"/>
          </a:p>
        </p:txBody>
      </p:sp>
      <p:sp>
        <p:nvSpPr>
          <p:cNvPr id="17" name="Text 12"/>
          <p:cNvSpPr/>
          <p:nvPr/>
        </p:nvSpPr>
        <p:spPr>
          <a:xfrm>
            <a:off x="4526280" y="4754880"/>
            <a:ext cx="2971800" cy="1188720"/>
          </a:xfrm>
          <a:prstGeom prst="rect">
            <a:avLst/>
          </a:prstGeom>
          <a:noFill/>
          <a:ln/>
        </p:spPr>
        <p:txBody>
          <a:bodyPr wrap="square" rtlCol="0" anchor="ctr"/>
          <a:lstStyle/>
          <a:p>
            <a:pPr indent="0" marL="0">
              <a:lnSpc>
                <a:spcPct val="120000"/>
              </a:lnSpc>
              <a:buNone/>
            </a:pPr>
            <a:r>
              <a:rPr lang="en-US" sz="1250" dirty="0">
                <a:solidFill>
                  <a:srgbClr val="6B7078"/>
                </a:solidFill>
                <a:latin typeface="Calibri" pitchFamily="34" charset="0"/>
                <a:ea typeface="Calibri" pitchFamily="34" charset="-122"/>
                <a:cs typeface="Calibri" pitchFamily="34" charset="-120"/>
              </a:rPr>
              <a:t>Qué zonas y meses evitar para hacer actividad física al aire libre.</a:t>
            </a:r>
            <a:endParaRPr lang="en-US" sz="1250" dirty="0"/>
          </a:p>
        </p:txBody>
      </p:sp>
      <p:sp>
        <p:nvSpPr>
          <p:cNvPr id="18" name="Shape 13"/>
          <p:cNvSpPr/>
          <p:nvPr/>
        </p:nvSpPr>
        <p:spPr>
          <a:xfrm>
            <a:off x="7955280" y="3383280"/>
            <a:ext cx="3474720" cy="2651760"/>
          </a:xfrm>
          <a:prstGeom prst="rect">
            <a:avLst/>
          </a:prstGeom>
          <a:solidFill>
            <a:srgbClr val="FFFFFF"/>
          </a:solidFill>
          <a:ln w="12700">
            <a:solidFill>
              <a:srgbClr val="E4E0D8"/>
            </a:solidFill>
            <a:prstDash val="solid"/>
          </a:ln>
          <a:effectLst>
            <a:outerShdw sx="100000" sy="100000" kx="0" ky="0" algn="bl" rotWithShape="0" blurRad="76200" dist="25400" dir="5400000">
              <a:srgbClr val="000000">
                <a:alpha val="10000"/>
              </a:srgbClr>
            </a:outerShdw>
          </a:effectLst>
        </p:spPr>
      </p:sp>
      <p:sp>
        <p:nvSpPr>
          <p:cNvPr id="19" name="Shape 14"/>
          <p:cNvSpPr/>
          <p:nvPr/>
        </p:nvSpPr>
        <p:spPr>
          <a:xfrm>
            <a:off x="8275320" y="3611880"/>
            <a:ext cx="640080" cy="640080"/>
          </a:xfrm>
          <a:prstGeom prst="ellipse">
            <a:avLst/>
          </a:prstGeom>
          <a:solidFill>
            <a:srgbClr val="27AE60"/>
          </a:solidFill>
          <a:ln/>
        </p:spPr>
      </p:sp>
      <p:pic>
        <p:nvPicPr>
          <p:cNvPr id="20" name="Image 3" descr="icons/database.png">    </p:cNvPr>
          <p:cNvPicPr>
            <a:picLocks noChangeAspect="1"/>
          </p:cNvPicPr>
          <p:nvPr/>
        </p:nvPicPr>
        <p:blipFill>
          <a:blip r:embed="rId4"/>
          <a:stretch>
            <a:fillRect/>
          </a:stretch>
        </p:blipFill>
        <p:spPr>
          <a:xfrm>
            <a:off x="8358530" y="3695090"/>
            <a:ext cx="473659" cy="473659"/>
          </a:xfrm>
          <a:prstGeom prst="rect">
            <a:avLst/>
          </a:prstGeom>
        </p:spPr>
      </p:pic>
      <p:sp>
        <p:nvSpPr>
          <p:cNvPr id="21" name="Text 15"/>
          <p:cNvSpPr/>
          <p:nvPr/>
        </p:nvSpPr>
        <p:spPr>
          <a:xfrm>
            <a:off x="8229600" y="4389120"/>
            <a:ext cx="2926080" cy="365760"/>
          </a:xfrm>
          <a:prstGeom prst="rect">
            <a:avLst/>
          </a:prstGeom>
          <a:noFill/>
          <a:ln/>
        </p:spPr>
        <p:txBody>
          <a:bodyPr wrap="square" rtlCol="0" anchor="ctr"/>
          <a:lstStyle/>
          <a:p>
            <a:pPr indent="0" marL="0">
              <a:buNone/>
            </a:pPr>
            <a:r>
              <a:rPr lang="en-US" sz="1400" b="1" dirty="0">
                <a:solidFill>
                  <a:srgbClr val="23262B"/>
                </a:solidFill>
                <a:latin typeface="Calibri" pitchFamily="34" charset="0"/>
                <a:ea typeface="Calibri" pitchFamily="34" charset="-122"/>
                <a:cs typeface="Calibri" pitchFamily="34" charset="-120"/>
              </a:rPr>
              <a:t>Fuente</a:t>
            </a:r>
            <a:endParaRPr lang="en-US" sz="1400" dirty="0"/>
          </a:p>
        </p:txBody>
      </p:sp>
      <p:sp>
        <p:nvSpPr>
          <p:cNvPr id="22" name="Text 16"/>
          <p:cNvSpPr/>
          <p:nvPr/>
        </p:nvSpPr>
        <p:spPr>
          <a:xfrm>
            <a:off x="8229600" y="4754880"/>
            <a:ext cx="2971800" cy="1188720"/>
          </a:xfrm>
          <a:prstGeom prst="rect">
            <a:avLst/>
          </a:prstGeom>
          <a:noFill/>
          <a:ln/>
        </p:spPr>
        <p:txBody>
          <a:bodyPr wrap="square" rtlCol="0" anchor="ctr"/>
          <a:lstStyle/>
          <a:p>
            <a:pPr indent="0" marL="0">
              <a:lnSpc>
                <a:spcPct val="120000"/>
              </a:lnSpc>
              <a:buNone/>
            </a:pPr>
            <a:r>
              <a:rPr lang="en-US" sz="1250" dirty="0">
                <a:solidFill>
                  <a:srgbClr val="6B7078"/>
                </a:solidFill>
                <a:latin typeface="Calibri" pitchFamily="34" charset="0"/>
                <a:ea typeface="Calibri" pitchFamily="34" charset="-122"/>
                <a:cs typeface="Calibri" pitchFamily="34" charset="-120"/>
              </a:rPr>
              <a:t>Datos abiertos de calidad del aire — Mendeley Data / RMCAB.</a:t>
            </a:r>
            <a:endParaRPr lang="en-US" sz="1250" dirty="0"/>
          </a:p>
        </p:txBody>
      </p:sp>
      <p:sp>
        <p:nvSpPr>
          <p:cNvPr id="23" name="Text 17"/>
          <p:cNvSpPr/>
          <p:nvPr/>
        </p:nvSpPr>
        <p:spPr>
          <a:xfrm>
            <a:off x="11475720" y="6473952"/>
            <a:ext cx="548640" cy="274320"/>
          </a:xfrm>
          <a:prstGeom prst="rect">
            <a:avLst/>
          </a:prstGeom>
          <a:noFill/>
          <a:ln/>
        </p:spPr>
        <p:txBody>
          <a:bodyPr wrap="square" rtlCol="0" anchor="ctr"/>
          <a:lstStyle/>
          <a:p>
            <a:pPr algn="r" indent="0" marL="0">
              <a:buNone/>
            </a:pPr>
            <a:r>
              <a:rPr lang="en-US" sz="1000" dirty="0">
                <a:solidFill>
                  <a:srgbClr val="6B7078"/>
                </a:solidFill>
                <a:latin typeface="Calibri" pitchFamily="34" charset="0"/>
                <a:ea typeface="Calibri" pitchFamily="34" charset="-122"/>
                <a:cs typeface="Calibri" pitchFamily="34" charset="-120"/>
              </a:rPr>
              <a:t>03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5F2"/>
        </a:solidFill>
      </p:bgPr>
    </p:bg>
    <p:spTree>
      <p:nvGrpSpPr>
        <p:cNvPr id="1" name=""/>
        <p:cNvGrpSpPr/>
        <p:nvPr/>
      </p:nvGrpSpPr>
      <p:grpSpPr>
        <a:xfrm>
          <a:off x="0" y="0"/>
          <a:ext cx="0" cy="0"/>
          <a:chOff x="0" y="0"/>
          <a:chExt cx="0" cy="0"/>
        </a:xfrm>
      </p:grpSpPr>
      <p:sp>
        <p:nvSpPr>
          <p:cNvPr id="2" name="Text 0"/>
          <p:cNvSpPr/>
          <p:nvPr/>
        </p:nvSpPr>
        <p:spPr>
          <a:xfrm>
            <a:off x="548640" y="457200"/>
            <a:ext cx="7315200" cy="320040"/>
          </a:xfrm>
          <a:prstGeom prst="rect">
            <a:avLst/>
          </a:prstGeom>
          <a:noFill/>
          <a:ln/>
        </p:spPr>
        <p:txBody>
          <a:bodyPr wrap="square" rtlCol="0" anchor="ctr"/>
          <a:lstStyle/>
          <a:p>
            <a:pPr indent="0" marL="0">
              <a:buNone/>
            </a:pPr>
            <a:r>
              <a:rPr lang="en-US" sz="1300" b="1" spc="200" kern="0" dirty="0">
                <a:solidFill>
                  <a:srgbClr val="E9A23B"/>
                </a:solidFill>
                <a:latin typeface="Calibri" pitchFamily="34" charset="0"/>
                <a:ea typeface="Calibri" pitchFamily="34" charset="-122"/>
                <a:cs typeface="Calibri" pitchFamily="34" charset="-120"/>
              </a:rPr>
              <a:t>DATOS</a:t>
            </a:r>
            <a:endParaRPr lang="en-US" sz="1300" dirty="0"/>
          </a:p>
        </p:txBody>
      </p:sp>
      <p:sp>
        <p:nvSpPr>
          <p:cNvPr id="3" name="Text 1"/>
          <p:cNvSpPr/>
          <p:nvPr/>
        </p:nvSpPr>
        <p:spPr>
          <a:xfrm>
            <a:off x="548640" y="777240"/>
            <a:ext cx="10515600" cy="822960"/>
          </a:xfrm>
          <a:prstGeom prst="rect">
            <a:avLst/>
          </a:prstGeom>
          <a:noFill/>
          <a:ln/>
        </p:spPr>
        <p:txBody>
          <a:bodyPr wrap="square" rtlCol="0" anchor="ctr"/>
          <a:lstStyle/>
          <a:p>
            <a:pPr algn="l" indent="0" marL="0">
              <a:buNone/>
            </a:pPr>
            <a:r>
              <a:rPr lang="en-US" sz="3200" b="1" dirty="0">
                <a:solidFill>
                  <a:srgbClr val="23262B"/>
                </a:solidFill>
                <a:latin typeface="Cambria" pitchFamily="34" charset="0"/>
                <a:ea typeface="Cambria" pitchFamily="34" charset="-122"/>
                <a:cs typeface="Cambria" pitchFamily="34" charset="-120"/>
              </a:rPr>
              <a:t>Búsqueda y obtención de los datos</a:t>
            </a:r>
            <a:endParaRPr lang="en-US" sz="3200" dirty="0"/>
          </a:p>
        </p:txBody>
      </p:sp>
      <p:sp>
        <p:nvSpPr>
          <p:cNvPr id="4" name="Text 2"/>
          <p:cNvSpPr/>
          <p:nvPr/>
        </p:nvSpPr>
        <p:spPr>
          <a:xfrm>
            <a:off x="548640" y="1783080"/>
            <a:ext cx="6309360" cy="1920240"/>
          </a:xfrm>
          <a:prstGeom prst="rect">
            <a:avLst/>
          </a:prstGeom>
          <a:noFill/>
          <a:ln/>
        </p:spPr>
        <p:txBody>
          <a:bodyPr wrap="square" rtlCol="0" anchor="ctr"/>
          <a:lstStyle/>
          <a:p>
            <a:pPr indent="0" marL="0">
              <a:lnSpc>
                <a:spcPct val="125000"/>
              </a:lnSpc>
              <a:buNone/>
            </a:pPr>
            <a:r>
              <a:rPr lang="en-US" sz="1450" dirty="0">
                <a:solidFill>
                  <a:srgbClr val="23262B"/>
                </a:solidFill>
                <a:latin typeface="Calibri" pitchFamily="34" charset="0"/>
                <a:ea typeface="Calibri" pitchFamily="34" charset="-122"/>
                <a:cs typeface="Calibri" pitchFamily="34" charset="-120"/>
              </a:rPr>
              <a:t>Se utilizó el conjunto de datos abiertos “Air Quality Bogotá”, publicado en Mendeley Data, con las mediciones oficiales de la Red de Monitoreo de Calidad del Aire de Bogotá (RMCAB). Se eligió por ser una fuente oficial, con cobertura de toda la ciudad y granularidad diaria — condiciones necesarias para comparar zonas y detectar patrones estacionales.</a:t>
            </a:r>
            <a:endParaRPr lang="en-US" sz="1450" dirty="0"/>
          </a:p>
        </p:txBody>
      </p:sp>
      <p:sp>
        <p:nvSpPr>
          <p:cNvPr id="5" name="Shape 3"/>
          <p:cNvSpPr/>
          <p:nvPr/>
        </p:nvSpPr>
        <p:spPr>
          <a:xfrm>
            <a:off x="548640" y="3886200"/>
            <a:ext cx="6309360" cy="1280160"/>
          </a:xfrm>
          <a:prstGeom prst="rect">
            <a:avLst/>
          </a:prstGeom>
          <a:solidFill>
            <a:srgbClr val="2E323A"/>
          </a:solidFill>
          <a:ln/>
        </p:spPr>
      </p:sp>
      <p:sp>
        <p:nvSpPr>
          <p:cNvPr id="6" name="Text 4"/>
          <p:cNvSpPr/>
          <p:nvPr/>
        </p:nvSpPr>
        <p:spPr>
          <a:xfrm>
            <a:off x="822960" y="4069080"/>
            <a:ext cx="5760720" cy="365760"/>
          </a:xfrm>
          <a:prstGeom prst="rect">
            <a:avLst/>
          </a:prstGeom>
          <a:noFill/>
          <a:ln/>
        </p:spPr>
        <p:txBody>
          <a:bodyPr wrap="square" rtlCol="0" anchor="ctr"/>
          <a:lstStyle/>
          <a:p>
            <a:pPr indent="0" marL="0">
              <a:buNone/>
            </a:pPr>
            <a:r>
              <a:rPr lang="en-US" sz="1250" b="1" dirty="0">
                <a:solidFill>
                  <a:srgbClr val="E9A23B"/>
                </a:solidFill>
                <a:latin typeface="Calibri" pitchFamily="34" charset="0"/>
                <a:ea typeface="Calibri" pitchFamily="34" charset="-122"/>
                <a:cs typeface="Calibri" pitchFamily="34" charset="-120"/>
              </a:rPr>
              <a:t>Fuente: data.mendeley.com/datasets/z6wtdbkc5b/3</a:t>
            </a:r>
            <a:endParaRPr lang="en-US" sz="1250" dirty="0"/>
          </a:p>
        </p:txBody>
      </p:sp>
      <p:sp>
        <p:nvSpPr>
          <p:cNvPr id="7" name="Text 5"/>
          <p:cNvSpPr/>
          <p:nvPr/>
        </p:nvSpPr>
        <p:spPr>
          <a:xfrm>
            <a:off x="822960" y="4434840"/>
            <a:ext cx="5760720" cy="548640"/>
          </a:xfrm>
          <a:prstGeom prst="rect">
            <a:avLst/>
          </a:prstGeom>
          <a:noFill/>
          <a:ln/>
        </p:spPr>
        <p:txBody>
          <a:bodyPr wrap="square" rtlCol="0" anchor="ctr"/>
          <a:lstStyle/>
          <a:p>
            <a:pPr indent="0" marL="0">
              <a:buNone/>
            </a:pPr>
            <a:r>
              <a:rPr lang="en-US" sz="1250" dirty="0">
                <a:solidFill>
                  <a:srgbClr val="D8D5CF"/>
                </a:solidFill>
                <a:latin typeface="Calibri" pitchFamily="34" charset="0"/>
                <a:ea typeface="Calibri" pitchFamily="34" charset="-122"/>
                <a:cs typeface="Calibri" pitchFamily="34" charset="-120"/>
              </a:rPr>
              <a:t>27 archivos .csv, uno por estación de monitoreo, combinados en un único dataset.</a:t>
            </a:r>
            <a:endParaRPr lang="en-US" sz="1250" dirty="0"/>
          </a:p>
        </p:txBody>
      </p:sp>
      <p:sp>
        <p:nvSpPr>
          <p:cNvPr id="8" name="Shape 6"/>
          <p:cNvSpPr/>
          <p:nvPr/>
        </p:nvSpPr>
        <p:spPr>
          <a:xfrm>
            <a:off x="7406640" y="1828800"/>
            <a:ext cx="4206240" cy="1188720"/>
          </a:xfrm>
          <a:prstGeom prst="rect">
            <a:avLst/>
          </a:prstGeom>
          <a:solidFill>
            <a:srgbClr val="FFFFFF"/>
          </a:solidFill>
          <a:ln w="12700">
            <a:solidFill>
              <a:srgbClr val="E4E0D8"/>
            </a:solidFill>
            <a:prstDash val="solid"/>
          </a:ln>
        </p:spPr>
      </p:sp>
      <p:sp>
        <p:nvSpPr>
          <p:cNvPr id="9" name="Text 7"/>
          <p:cNvSpPr/>
          <p:nvPr/>
        </p:nvSpPr>
        <p:spPr>
          <a:xfrm>
            <a:off x="7635240" y="1920240"/>
            <a:ext cx="1188720" cy="1005840"/>
          </a:xfrm>
          <a:prstGeom prst="rect">
            <a:avLst/>
          </a:prstGeom>
          <a:noFill/>
          <a:ln/>
        </p:spPr>
        <p:txBody>
          <a:bodyPr wrap="square" rtlCol="0" anchor="ctr"/>
          <a:lstStyle/>
          <a:p>
            <a:pPr indent="0" marL="0">
              <a:buNone/>
            </a:pPr>
            <a:r>
              <a:rPr lang="en-US" sz="3400" b="1" dirty="0">
                <a:solidFill>
                  <a:srgbClr val="E9A23B"/>
                </a:solidFill>
                <a:latin typeface="Cambria" pitchFamily="34" charset="0"/>
                <a:ea typeface="Cambria" pitchFamily="34" charset="-122"/>
                <a:cs typeface="Cambria" pitchFamily="34" charset="-120"/>
              </a:rPr>
              <a:t>27</a:t>
            </a:r>
            <a:endParaRPr lang="en-US" sz="3400" dirty="0"/>
          </a:p>
        </p:txBody>
      </p:sp>
      <p:sp>
        <p:nvSpPr>
          <p:cNvPr id="10" name="Text 8"/>
          <p:cNvSpPr/>
          <p:nvPr/>
        </p:nvSpPr>
        <p:spPr>
          <a:xfrm>
            <a:off x="8961120" y="1920240"/>
            <a:ext cx="2606040" cy="1005840"/>
          </a:xfrm>
          <a:prstGeom prst="rect">
            <a:avLst/>
          </a:prstGeom>
          <a:noFill/>
          <a:ln/>
        </p:spPr>
        <p:txBody>
          <a:bodyPr wrap="square" rtlCol="0" anchor="ctr"/>
          <a:lstStyle/>
          <a:p>
            <a:pPr indent="0" marL="0">
              <a:lnSpc>
                <a:spcPct val="110000"/>
              </a:lnSpc>
              <a:buNone/>
            </a:pPr>
            <a:r>
              <a:rPr lang="en-US" sz="1250" dirty="0">
                <a:solidFill>
                  <a:srgbClr val="23262B"/>
                </a:solidFill>
                <a:latin typeface="Calibri" pitchFamily="34" charset="0"/>
                <a:ea typeface="Calibri" pitchFamily="34" charset="-122"/>
                <a:cs typeface="Calibri" pitchFamily="34" charset="-120"/>
              </a:rPr>
              <a:t>estaciones de</a:t>
            </a:r>
            <a:endParaRPr lang="en-US" sz="1250" dirty="0"/>
          </a:p>
          <a:p>
            <a:pPr indent="0" marL="0">
              <a:lnSpc>
                <a:spcPct val="110000"/>
              </a:lnSpc>
              <a:buNone/>
            </a:pPr>
            <a:r>
              <a:rPr lang="en-US" sz="1250" dirty="0">
                <a:solidFill>
                  <a:srgbClr val="23262B"/>
                </a:solidFill>
                <a:latin typeface="Calibri" pitchFamily="34" charset="0"/>
                <a:ea typeface="Calibri" pitchFamily="34" charset="-122"/>
                <a:cs typeface="Calibri" pitchFamily="34" charset="-120"/>
              </a:rPr>
              <a:t>monitoreo (RMCAB)</a:t>
            </a:r>
            <a:endParaRPr lang="en-US" sz="1250" dirty="0"/>
          </a:p>
        </p:txBody>
      </p:sp>
      <p:sp>
        <p:nvSpPr>
          <p:cNvPr id="11" name="Shape 9"/>
          <p:cNvSpPr/>
          <p:nvPr/>
        </p:nvSpPr>
        <p:spPr>
          <a:xfrm>
            <a:off x="7406640" y="3246120"/>
            <a:ext cx="4206240" cy="1188720"/>
          </a:xfrm>
          <a:prstGeom prst="rect">
            <a:avLst/>
          </a:prstGeom>
          <a:solidFill>
            <a:srgbClr val="FFFFFF"/>
          </a:solidFill>
          <a:ln w="12700">
            <a:solidFill>
              <a:srgbClr val="E4E0D8"/>
            </a:solidFill>
            <a:prstDash val="solid"/>
          </a:ln>
        </p:spPr>
      </p:sp>
      <p:sp>
        <p:nvSpPr>
          <p:cNvPr id="12" name="Text 10"/>
          <p:cNvSpPr/>
          <p:nvPr/>
        </p:nvSpPr>
        <p:spPr>
          <a:xfrm>
            <a:off x="7635240" y="3337560"/>
            <a:ext cx="1737360" cy="1005840"/>
          </a:xfrm>
          <a:prstGeom prst="rect">
            <a:avLst/>
          </a:prstGeom>
          <a:noFill/>
          <a:ln/>
        </p:spPr>
        <p:txBody>
          <a:bodyPr wrap="square" rtlCol="0" anchor="ctr"/>
          <a:lstStyle/>
          <a:p>
            <a:pPr indent="0" marL="0">
              <a:buNone/>
            </a:pPr>
            <a:r>
              <a:rPr lang="en-US" sz="2200" b="1" dirty="0">
                <a:solidFill>
                  <a:srgbClr val="27AE60"/>
                </a:solidFill>
                <a:latin typeface="Cambria" pitchFamily="34" charset="0"/>
                <a:ea typeface="Cambria" pitchFamily="34" charset="-122"/>
                <a:cs typeface="Cambria" pitchFamily="34" charset="-120"/>
              </a:rPr>
              <a:t>2013–2022</a:t>
            </a:r>
            <a:endParaRPr lang="en-US" sz="2200" dirty="0"/>
          </a:p>
        </p:txBody>
      </p:sp>
      <p:sp>
        <p:nvSpPr>
          <p:cNvPr id="13" name="Text 11"/>
          <p:cNvSpPr/>
          <p:nvPr/>
        </p:nvSpPr>
        <p:spPr>
          <a:xfrm>
            <a:off x="9509760" y="3337560"/>
            <a:ext cx="2057400" cy="1005840"/>
          </a:xfrm>
          <a:prstGeom prst="rect">
            <a:avLst/>
          </a:prstGeom>
          <a:noFill/>
          <a:ln/>
        </p:spPr>
        <p:txBody>
          <a:bodyPr wrap="square" rtlCol="0" anchor="ctr"/>
          <a:lstStyle/>
          <a:p>
            <a:pPr indent="0" marL="0">
              <a:lnSpc>
                <a:spcPct val="110000"/>
              </a:lnSpc>
              <a:buNone/>
            </a:pPr>
            <a:r>
              <a:rPr lang="en-US" sz="1250" dirty="0">
                <a:solidFill>
                  <a:srgbClr val="23262B"/>
                </a:solidFill>
                <a:latin typeface="Calibri" pitchFamily="34" charset="0"/>
                <a:ea typeface="Calibri" pitchFamily="34" charset="-122"/>
                <a:cs typeface="Calibri" pitchFamily="34" charset="-120"/>
              </a:rPr>
              <a:t>periodo cubierto</a:t>
            </a:r>
            <a:endParaRPr lang="en-US" sz="1250" dirty="0"/>
          </a:p>
          <a:p>
            <a:pPr indent="0" marL="0">
              <a:lnSpc>
                <a:spcPct val="110000"/>
              </a:lnSpc>
              <a:buNone/>
            </a:pPr>
            <a:r>
              <a:rPr lang="en-US" sz="1250" dirty="0">
                <a:solidFill>
                  <a:srgbClr val="23262B"/>
                </a:solidFill>
                <a:latin typeface="Calibri" pitchFamily="34" charset="0"/>
                <a:ea typeface="Calibri" pitchFamily="34" charset="-122"/>
                <a:cs typeface="Calibri" pitchFamily="34" charset="-120"/>
              </a:rPr>
              <a:t>por los registros</a:t>
            </a:r>
            <a:endParaRPr lang="en-US" sz="1250" dirty="0"/>
          </a:p>
        </p:txBody>
      </p:sp>
      <p:sp>
        <p:nvSpPr>
          <p:cNvPr id="14" name="Shape 12"/>
          <p:cNvSpPr/>
          <p:nvPr/>
        </p:nvSpPr>
        <p:spPr>
          <a:xfrm>
            <a:off x="7406640" y="4663440"/>
            <a:ext cx="4206240" cy="1188720"/>
          </a:xfrm>
          <a:prstGeom prst="rect">
            <a:avLst/>
          </a:prstGeom>
          <a:solidFill>
            <a:srgbClr val="FFFFFF"/>
          </a:solidFill>
          <a:ln w="12700">
            <a:solidFill>
              <a:srgbClr val="E4E0D8"/>
            </a:solidFill>
            <a:prstDash val="solid"/>
          </a:ln>
        </p:spPr>
      </p:sp>
      <p:sp>
        <p:nvSpPr>
          <p:cNvPr id="15" name="Text 13"/>
          <p:cNvSpPr/>
          <p:nvPr/>
        </p:nvSpPr>
        <p:spPr>
          <a:xfrm>
            <a:off x="7635240" y="4754880"/>
            <a:ext cx="1188720" cy="1005840"/>
          </a:xfrm>
          <a:prstGeom prst="rect">
            <a:avLst/>
          </a:prstGeom>
          <a:noFill/>
          <a:ln/>
        </p:spPr>
        <p:txBody>
          <a:bodyPr wrap="square" rtlCol="0" anchor="ctr"/>
          <a:lstStyle/>
          <a:p>
            <a:pPr indent="0" marL="0">
              <a:buNone/>
            </a:pPr>
            <a:r>
              <a:rPr lang="en-US" sz="3400" b="1" dirty="0">
                <a:solidFill>
                  <a:srgbClr val="C0392B"/>
                </a:solidFill>
                <a:latin typeface="Cambria" pitchFamily="34" charset="0"/>
                <a:ea typeface="Cambria" pitchFamily="34" charset="-122"/>
                <a:cs typeface="Cambria" pitchFamily="34" charset="-120"/>
              </a:rPr>
              <a:t>1</a:t>
            </a:r>
            <a:endParaRPr lang="en-US" sz="3400" dirty="0"/>
          </a:p>
        </p:txBody>
      </p:sp>
      <p:sp>
        <p:nvSpPr>
          <p:cNvPr id="16" name="Text 14"/>
          <p:cNvSpPr/>
          <p:nvPr/>
        </p:nvSpPr>
        <p:spPr>
          <a:xfrm>
            <a:off x="8961120" y="4754880"/>
            <a:ext cx="2606040" cy="1005840"/>
          </a:xfrm>
          <a:prstGeom prst="rect">
            <a:avLst/>
          </a:prstGeom>
          <a:noFill/>
          <a:ln/>
        </p:spPr>
        <p:txBody>
          <a:bodyPr wrap="square" rtlCol="0" anchor="ctr"/>
          <a:lstStyle/>
          <a:p>
            <a:pPr indent="0" marL="0">
              <a:lnSpc>
                <a:spcPct val="110000"/>
              </a:lnSpc>
              <a:buNone/>
            </a:pPr>
            <a:r>
              <a:rPr lang="en-US" sz="1250" dirty="0">
                <a:solidFill>
                  <a:srgbClr val="23262B"/>
                </a:solidFill>
                <a:latin typeface="Calibri" pitchFamily="34" charset="0"/>
                <a:ea typeface="Calibri" pitchFamily="34" charset="-122"/>
                <a:cs typeface="Calibri" pitchFamily="34" charset="-120"/>
              </a:rPr>
              <a:t>contaminante</a:t>
            </a:r>
            <a:endParaRPr lang="en-US" sz="1250" dirty="0"/>
          </a:p>
          <a:p>
            <a:pPr indent="0" marL="0">
              <a:lnSpc>
                <a:spcPct val="110000"/>
              </a:lnSpc>
              <a:buNone/>
            </a:pPr>
            <a:r>
              <a:rPr lang="en-US" sz="1250" dirty="0">
                <a:solidFill>
                  <a:srgbClr val="23262B"/>
                </a:solidFill>
                <a:latin typeface="Calibri" pitchFamily="34" charset="0"/>
                <a:ea typeface="Calibri" pitchFamily="34" charset="-122"/>
                <a:cs typeface="Calibri" pitchFamily="34" charset="-120"/>
              </a:rPr>
              <a:t>analizado: PM2.5</a:t>
            </a:r>
            <a:endParaRPr lang="en-US" sz="1250" dirty="0"/>
          </a:p>
        </p:txBody>
      </p:sp>
      <p:sp>
        <p:nvSpPr>
          <p:cNvPr id="17" name="Text 15"/>
          <p:cNvSpPr/>
          <p:nvPr/>
        </p:nvSpPr>
        <p:spPr>
          <a:xfrm>
            <a:off x="11475720" y="6473952"/>
            <a:ext cx="548640" cy="274320"/>
          </a:xfrm>
          <a:prstGeom prst="rect">
            <a:avLst/>
          </a:prstGeom>
          <a:noFill/>
          <a:ln/>
        </p:spPr>
        <p:txBody>
          <a:bodyPr wrap="square" rtlCol="0" anchor="ctr"/>
          <a:lstStyle/>
          <a:p>
            <a:pPr algn="r" indent="0" marL="0">
              <a:buNone/>
            </a:pPr>
            <a:r>
              <a:rPr lang="en-US" sz="1000" dirty="0">
                <a:solidFill>
                  <a:srgbClr val="6B7078"/>
                </a:solidFill>
                <a:latin typeface="Calibri" pitchFamily="34" charset="0"/>
                <a:ea typeface="Calibri" pitchFamily="34" charset="-122"/>
                <a:cs typeface="Calibri" pitchFamily="34" charset="-120"/>
              </a:rPr>
              <a:t>04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5F2"/>
        </a:solidFill>
      </p:bgPr>
    </p:bg>
    <p:spTree>
      <p:nvGrpSpPr>
        <p:cNvPr id="1" name=""/>
        <p:cNvGrpSpPr/>
        <p:nvPr/>
      </p:nvGrpSpPr>
      <p:grpSpPr>
        <a:xfrm>
          <a:off x="0" y="0"/>
          <a:ext cx="0" cy="0"/>
          <a:chOff x="0" y="0"/>
          <a:chExt cx="0" cy="0"/>
        </a:xfrm>
      </p:grpSpPr>
      <p:sp>
        <p:nvSpPr>
          <p:cNvPr id="2" name="Text 0"/>
          <p:cNvSpPr/>
          <p:nvPr/>
        </p:nvSpPr>
        <p:spPr>
          <a:xfrm>
            <a:off x="548640" y="457200"/>
            <a:ext cx="7315200" cy="320040"/>
          </a:xfrm>
          <a:prstGeom prst="rect">
            <a:avLst/>
          </a:prstGeom>
          <a:noFill/>
          <a:ln/>
        </p:spPr>
        <p:txBody>
          <a:bodyPr wrap="square" rtlCol="0" anchor="ctr"/>
          <a:lstStyle/>
          <a:p>
            <a:pPr indent="0" marL="0">
              <a:buNone/>
            </a:pPr>
            <a:r>
              <a:rPr lang="en-US" sz="1300" b="1" spc="200" kern="0" dirty="0">
                <a:solidFill>
                  <a:srgbClr val="E9A23B"/>
                </a:solidFill>
                <a:latin typeface="Calibri" pitchFamily="34" charset="0"/>
                <a:ea typeface="Calibri" pitchFamily="34" charset="-122"/>
                <a:cs typeface="Calibri" pitchFamily="34" charset="-120"/>
              </a:rPr>
              <a:t>DATOS</a:t>
            </a:r>
            <a:endParaRPr lang="en-US" sz="1300" dirty="0"/>
          </a:p>
        </p:txBody>
      </p:sp>
      <p:sp>
        <p:nvSpPr>
          <p:cNvPr id="3" name="Text 1"/>
          <p:cNvSpPr/>
          <p:nvPr/>
        </p:nvSpPr>
        <p:spPr>
          <a:xfrm>
            <a:off x="548640" y="777240"/>
            <a:ext cx="10515600" cy="822960"/>
          </a:xfrm>
          <a:prstGeom prst="rect">
            <a:avLst/>
          </a:prstGeom>
          <a:noFill/>
          <a:ln/>
        </p:spPr>
        <p:txBody>
          <a:bodyPr wrap="square" rtlCol="0" anchor="ctr"/>
          <a:lstStyle/>
          <a:p>
            <a:pPr algn="l" indent="0" marL="0">
              <a:buNone/>
            </a:pPr>
            <a:r>
              <a:rPr lang="en-US" sz="3200" b="1" dirty="0">
                <a:solidFill>
                  <a:srgbClr val="23262B"/>
                </a:solidFill>
                <a:latin typeface="Cambria" pitchFamily="34" charset="0"/>
                <a:ea typeface="Cambria" pitchFamily="34" charset="-122"/>
                <a:cs typeface="Cambria" pitchFamily="34" charset="-120"/>
              </a:rPr>
              <a:t>Comprensión del conjunto de datos</a:t>
            </a:r>
            <a:endParaRPr lang="en-US" sz="3200" dirty="0"/>
          </a:p>
        </p:txBody>
      </p:sp>
      <p:sp>
        <p:nvSpPr>
          <p:cNvPr id="4" name="Text 2"/>
          <p:cNvSpPr/>
          <p:nvPr/>
        </p:nvSpPr>
        <p:spPr>
          <a:xfrm>
            <a:off x="548640" y="1737360"/>
            <a:ext cx="7315200" cy="365760"/>
          </a:xfrm>
          <a:prstGeom prst="rect">
            <a:avLst/>
          </a:prstGeom>
          <a:noFill/>
          <a:ln/>
        </p:spPr>
        <p:txBody>
          <a:bodyPr wrap="square" rtlCol="0" anchor="ctr"/>
          <a:lstStyle/>
          <a:p>
            <a:pPr indent="0" marL="0">
              <a:buNone/>
            </a:pPr>
            <a:r>
              <a:rPr lang="en-US" sz="1400" dirty="0">
                <a:solidFill>
                  <a:srgbClr val="23262B"/>
                </a:solidFill>
                <a:latin typeface="Calibri" pitchFamily="34" charset="0"/>
                <a:ea typeface="Calibri" pitchFamily="34" charset="-122"/>
                <a:cs typeface="Calibri" pitchFamily="34" charset="-120"/>
              </a:rPr>
              <a:t>Cada archivo aporta cuatro variables por estación, registradas de forma diaria:</a:t>
            </a:r>
            <a:endParaRPr lang="en-US" sz="14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48640" y="2240280"/>
          <a:ext cx="10881360" cy="2286000"/>
        </p:xfrm>
        <a:graphic>
          <a:graphicData uri="http://schemas.openxmlformats.org/drawingml/2006/table">
            <a:tbl>
              <a:tblPr/>
              <a:tblGrid>
                <a:gridCol w="2194560"/>
                <a:gridCol w="5486400"/>
                <a:gridCol w="3200400"/>
              </a:tblGrid>
              <a:tr h="457200">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Variable</a:t>
                      </a:r>
                      <a:endParaRPr lang="en-US" sz="1250" dirty="0">
                        <a:latin typeface="Calibri" charset="0"/>
                        <a:ea typeface="Calibri" charset="0"/>
                        <a:cs typeface="Calibri" charset="0"/>
                      </a:endParaRPr>
                    </a:p>
                  </a:txBody>
                  <a:tcPr marL="91440" marR="91440" marT="45720" marB="45720">
                    <a:lnL w="12700" cap="flat" cmpd="sng" algn="ctr">
                      <a:solidFill>
                        <a:srgbClr val="E4E0D8"/>
                      </a:solidFill>
                      <a:prstDash val="solid"/>
                      <a:round/>
                      <a:headEnd type="none" w="med" len="med"/>
                      <a:tailEnd type="none" w="med" len="med"/>
                    </a:lnL>
                    <a:lnR w="12700" cap="flat" cmpd="sng" algn="ctr">
                      <a:solidFill>
                        <a:srgbClr val="E4E0D8"/>
                      </a:solidFill>
                      <a:prstDash val="solid"/>
                      <a:round/>
                      <a:headEnd type="none" w="med" len="med"/>
                      <a:tailEnd type="none" w="med" len="med"/>
                    </a:lnR>
                    <a:lnT w="12700" cap="flat" cmpd="sng" algn="ctr">
                      <a:solidFill>
                        <a:srgbClr val="E4E0D8"/>
                      </a:solidFill>
                      <a:prstDash val="solid"/>
                      <a:round/>
                      <a:headEnd type="none" w="med" len="med"/>
                      <a:tailEnd type="none" w="med" len="med"/>
                    </a:lnT>
                    <a:lnB w="12700" cap="flat" cmpd="sng" algn="ctr">
                      <a:solidFill>
                        <a:srgbClr val="E4E0D8"/>
                      </a:solidFill>
                      <a:prstDash val="solid"/>
                      <a:round/>
                      <a:headEnd type="none" w="med" len="med"/>
                      <a:tailEnd type="none" w="med" len="med"/>
                    </a:lnB>
                    <a:solidFill>
                      <a:srgbClr val="23262B"/>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Descripción</a:t>
                      </a:r>
                      <a:endParaRPr lang="en-US" sz="1250" dirty="0">
                        <a:latin typeface="Calibri" charset="0"/>
                        <a:ea typeface="Calibri" charset="0"/>
                        <a:cs typeface="Calibri" charset="0"/>
                      </a:endParaRPr>
                    </a:p>
                  </a:txBody>
                  <a:tcPr marL="91440" marR="91440" marT="45720" marB="45720">
                    <a:lnL w="12700" cap="flat" cmpd="sng" algn="ctr">
                      <a:solidFill>
                        <a:srgbClr val="E4E0D8"/>
                      </a:solidFill>
                      <a:prstDash val="solid"/>
                      <a:round/>
                      <a:headEnd type="none" w="med" len="med"/>
                      <a:tailEnd type="none" w="med" len="med"/>
                    </a:lnL>
                    <a:lnR w="12700" cap="flat" cmpd="sng" algn="ctr">
                      <a:solidFill>
                        <a:srgbClr val="E4E0D8"/>
                      </a:solidFill>
                      <a:prstDash val="solid"/>
                      <a:round/>
                      <a:headEnd type="none" w="med" len="med"/>
                      <a:tailEnd type="none" w="med" len="med"/>
                    </a:lnR>
                    <a:lnT w="12700" cap="flat" cmpd="sng" algn="ctr">
                      <a:solidFill>
                        <a:srgbClr val="E4E0D8"/>
                      </a:solidFill>
                      <a:prstDash val="solid"/>
                      <a:round/>
                      <a:headEnd type="none" w="med" len="med"/>
                      <a:tailEnd type="none" w="med" len="med"/>
                    </a:lnT>
                    <a:lnB w="12700" cap="flat" cmpd="sng" algn="ctr">
                      <a:solidFill>
                        <a:srgbClr val="E4E0D8"/>
                      </a:solidFill>
                      <a:prstDash val="solid"/>
                      <a:round/>
                      <a:headEnd type="none" w="med" len="med"/>
                      <a:tailEnd type="none" w="med" len="med"/>
                    </a:lnB>
                    <a:solidFill>
                      <a:srgbClr val="23262B"/>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Estado inicial</a:t>
                      </a:r>
                      <a:endParaRPr lang="en-US" sz="1250" dirty="0">
                        <a:latin typeface="Calibri" charset="0"/>
                        <a:ea typeface="Calibri" charset="0"/>
                        <a:cs typeface="Calibri" charset="0"/>
                      </a:endParaRPr>
                    </a:p>
                  </a:txBody>
                  <a:tcPr marL="91440" marR="91440" marT="45720" marB="45720">
                    <a:lnL w="12700" cap="flat" cmpd="sng" algn="ctr">
                      <a:solidFill>
                        <a:srgbClr val="E4E0D8"/>
                      </a:solidFill>
                      <a:prstDash val="solid"/>
                      <a:round/>
                      <a:headEnd type="none" w="med" len="med"/>
                      <a:tailEnd type="none" w="med" len="med"/>
                    </a:lnL>
                    <a:lnR w="12700" cap="flat" cmpd="sng" algn="ctr">
                      <a:solidFill>
                        <a:srgbClr val="E4E0D8"/>
                      </a:solidFill>
                      <a:prstDash val="solid"/>
                      <a:round/>
                      <a:headEnd type="none" w="med" len="med"/>
                      <a:tailEnd type="none" w="med" len="med"/>
                    </a:lnR>
                    <a:lnT w="12700" cap="flat" cmpd="sng" algn="ctr">
                      <a:solidFill>
                        <a:srgbClr val="E4E0D8"/>
                      </a:solidFill>
                      <a:prstDash val="solid"/>
                      <a:round/>
                      <a:headEnd type="none" w="med" len="med"/>
                      <a:tailEnd type="none" w="med" len="med"/>
                    </a:lnT>
                    <a:lnB w="12700" cap="flat" cmpd="sng" algn="ctr">
                      <a:solidFill>
                        <a:srgbClr val="E4E0D8"/>
                      </a:solidFill>
                      <a:prstDash val="solid"/>
                      <a:round/>
                      <a:headEnd type="none" w="med" len="med"/>
                      <a:tailEnd type="none" w="med" len="med"/>
                    </a:lnB>
                    <a:solidFill>
                      <a:srgbClr val="23262B"/>
                    </a:solidFill>
                  </a:tcPr>
                </a:tc>
              </a:tr>
              <a:tr h="457200">
                <a:tc>
                  <a:txBody>
                    <a:bodyPr/>
                    <a:lstStyle/>
                    <a:p>
                      <a:pPr indent="0" marL="0">
                        <a:buNone/>
                      </a:pPr>
                      <a:r>
                        <a:rPr lang="en-US" sz="1250" dirty="0">
                          <a:solidFill>
                            <a:srgbClr val="23262B"/>
                          </a:solidFill>
                          <a:latin typeface="Calibri" pitchFamily="34" charset="0"/>
                          <a:ea typeface="Calibri" pitchFamily="34" charset="-122"/>
                          <a:cs typeface="Calibri" pitchFamily="34" charset="-120"/>
                        </a:rPr>
                        <a:t>Estacion</a:t>
                      </a:r>
                      <a:endParaRPr lang="en-US" sz="1250" dirty="0">
                        <a:latin typeface="Calibri" charset="0"/>
                        <a:ea typeface="Calibri" charset="0"/>
                        <a:cs typeface="Calibri" charset="0"/>
                      </a:endParaRPr>
                    </a:p>
                  </a:txBody>
                  <a:tcPr marL="91440" marR="91440" marT="45720" marB="45720">
                    <a:lnL w="12700" cap="flat" cmpd="sng" algn="ctr">
                      <a:solidFill>
                        <a:srgbClr val="E4E0D8"/>
                      </a:solidFill>
                      <a:prstDash val="solid"/>
                      <a:round/>
                      <a:headEnd type="none" w="med" len="med"/>
                      <a:tailEnd type="none" w="med" len="med"/>
                    </a:lnL>
                    <a:lnR w="12700" cap="flat" cmpd="sng" algn="ctr">
                      <a:solidFill>
                        <a:srgbClr val="E4E0D8"/>
                      </a:solidFill>
                      <a:prstDash val="solid"/>
                      <a:round/>
                      <a:headEnd type="none" w="med" len="med"/>
                      <a:tailEnd type="none" w="med" len="med"/>
                    </a:lnR>
                    <a:lnT w="12700" cap="flat" cmpd="sng" algn="ctr">
                      <a:solidFill>
                        <a:srgbClr val="E4E0D8"/>
                      </a:solidFill>
                      <a:prstDash val="solid"/>
                      <a:round/>
                      <a:headEnd type="none" w="med" len="med"/>
                      <a:tailEnd type="none" w="med" len="med"/>
                    </a:lnT>
                    <a:lnB w="12700" cap="flat" cmpd="sng" algn="ctr">
                      <a:solidFill>
                        <a:srgbClr val="E4E0D8"/>
                      </a:solidFill>
                      <a:prstDash val="solid"/>
                      <a:round/>
                      <a:headEnd type="none" w="med" len="med"/>
                      <a:tailEnd type="none" w="med" len="med"/>
                    </a:lnB>
                  </a:tcPr>
                </a:tc>
                <a:tc>
                  <a:txBody>
                    <a:bodyPr/>
                    <a:lstStyle/>
                    <a:p>
                      <a:pPr indent="0" marL="0">
                        <a:buNone/>
                      </a:pPr>
                      <a:r>
                        <a:rPr lang="en-US" sz="1250" dirty="0">
                          <a:solidFill>
                            <a:srgbClr val="23262B"/>
                          </a:solidFill>
                          <a:latin typeface="Calibri" pitchFamily="34" charset="0"/>
                          <a:ea typeface="Calibri" pitchFamily="34" charset="-122"/>
                          <a:cs typeface="Calibri" pitchFamily="34" charset="-120"/>
                        </a:rPr>
                        <a:t>Nombre de la estación de monitoreo (27 en total)</a:t>
                      </a:r>
                      <a:endParaRPr lang="en-US" sz="1250" dirty="0">
                        <a:latin typeface="Calibri" charset="0"/>
                        <a:ea typeface="Calibri" charset="0"/>
                        <a:cs typeface="Calibri" charset="0"/>
                      </a:endParaRPr>
                    </a:p>
                  </a:txBody>
                  <a:tcPr marL="91440" marR="91440" marT="45720" marB="45720">
                    <a:lnL w="12700" cap="flat" cmpd="sng" algn="ctr">
                      <a:solidFill>
                        <a:srgbClr val="E4E0D8"/>
                      </a:solidFill>
                      <a:prstDash val="solid"/>
                      <a:round/>
                      <a:headEnd type="none" w="med" len="med"/>
                      <a:tailEnd type="none" w="med" len="med"/>
                    </a:lnL>
                    <a:lnR w="12700" cap="flat" cmpd="sng" algn="ctr">
                      <a:solidFill>
                        <a:srgbClr val="E4E0D8"/>
                      </a:solidFill>
                      <a:prstDash val="solid"/>
                      <a:round/>
                      <a:headEnd type="none" w="med" len="med"/>
                      <a:tailEnd type="none" w="med" len="med"/>
                    </a:lnR>
                    <a:lnT w="12700" cap="flat" cmpd="sng" algn="ctr">
                      <a:solidFill>
                        <a:srgbClr val="E4E0D8"/>
                      </a:solidFill>
                      <a:prstDash val="solid"/>
                      <a:round/>
                      <a:headEnd type="none" w="med" len="med"/>
                      <a:tailEnd type="none" w="med" len="med"/>
                    </a:lnT>
                    <a:lnB w="12700" cap="flat" cmpd="sng" algn="ctr">
                      <a:solidFill>
                        <a:srgbClr val="E4E0D8"/>
                      </a:solidFill>
                      <a:prstDash val="solid"/>
                      <a:round/>
                      <a:headEnd type="none" w="med" len="med"/>
                      <a:tailEnd type="none" w="med" len="med"/>
                    </a:lnB>
                  </a:tcPr>
                </a:tc>
                <a:tc>
                  <a:txBody>
                    <a:bodyPr/>
                    <a:lstStyle/>
                    <a:p>
                      <a:pPr indent="0" marL="0">
                        <a:buNone/>
                      </a:pPr>
                      <a:r>
                        <a:rPr lang="en-US" sz="1250" dirty="0">
                          <a:solidFill>
                            <a:srgbClr val="23262B"/>
                          </a:solidFill>
                          <a:latin typeface="Calibri" pitchFamily="34" charset="0"/>
                          <a:ea typeface="Calibri" pitchFamily="34" charset="-122"/>
                          <a:cs typeface="Calibri" pitchFamily="34" charset="-120"/>
                        </a:rPr>
                        <a:t>Formatos y mayúsculas inconsistentes</a:t>
                      </a:r>
                      <a:endParaRPr lang="en-US" sz="1250" dirty="0">
                        <a:latin typeface="Calibri" charset="0"/>
                        <a:ea typeface="Calibri" charset="0"/>
                        <a:cs typeface="Calibri" charset="0"/>
                      </a:endParaRPr>
                    </a:p>
                  </a:txBody>
                  <a:tcPr marL="91440" marR="91440" marT="45720" marB="45720">
                    <a:lnL w="12700" cap="flat" cmpd="sng" algn="ctr">
                      <a:solidFill>
                        <a:srgbClr val="E4E0D8"/>
                      </a:solidFill>
                      <a:prstDash val="solid"/>
                      <a:round/>
                      <a:headEnd type="none" w="med" len="med"/>
                      <a:tailEnd type="none" w="med" len="med"/>
                    </a:lnL>
                    <a:lnR w="12700" cap="flat" cmpd="sng" algn="ctr">
                      <a:solidFill>
                        <a:srgbClr val="E4E0D8"/>
                      </a:solidFill>
                      <a:prstDash val="solid"/>
                      <a:round/>
                      <a:headEnd type="none" w="med" len="med"/>
                      <a:tailEnd type="none" w="med" len="med"/>
                    </a:lnR>
                    <a:lnT w="12700" cap="flat" cmpd="sng" algn="ctr">
                      <a:solidFill>
                        <a:srgbClr val="E4E0D8"/>
                      </a:solidFill>
                      <a:prstDash val="solid"/>
                      <a:round/>
                      <a:headEnd type="none" w="med" len="med"/>
                      <a:tailEnd type="none" w="med" len="med"/>
                    </a:lnT>
                    <a:lnB w="12700" cap="flat" cmpd="sng" algn="ctr">
                      <a:solidFill>
                        <a:srgbClr val="E4E0D8"/>
                      </a:solidFill>
                      <a:prstDash val="solid"/>
                      <a:round/>
                      <a:headEnd type="none" w="med" len="med"/>
                      <a:tailEnd type="none" w="med" len="med"/>
                    </a:lnB>
                  </a:tcPr>
                </a:tc>
              </a:tr>
              <a:tr h="457200">
                <a:tc>
                  <a:txBody>
                    <a:bodyPr/>
                    <a:lstStyle/>
                    <a:p>
                      <a:pPr indent="0" marL="0">
                        <a:buNone/>
                      </a:pPr>
                      <a:r>
                        <a:rPr lang="en-US" sz="1250" dirty="0">
                          <a:solidFill>
                            <a:srgbClr val="23262B"/>
                          </a:solidFill>
                          <a:latin typeface="Calibri" pitchFamily="34" charset="0"/>
                          <a:ea typeface="Calibri" pitchFamily="34" charset="-122"/>
                          <a:cs typeface="Calibri" pitchFamily="34" charset="-120"/>
                        </a:rPr>
                        <a:t>Fecha inicial</a:t>
                      </a:r>
                      <a:endParaRPr lang="en-US" sz="1250" dirty="0">
                        <a:latin typeface="Calibri" charset="0"/>
                        <a:ea typeface="Calibri" charset="0"/>
                        <a:cs typeface="Calibri" charset="0"/>
                      </a:endParaRPr>
                    </a:p>
                  </a:txBody>
                  <a:tcPr marL="91440" marR="91440" marT="45720" marB="45720">
                    <a:lnL w="12700" cap="flat" cmpd="sng" algn="ctr">
                      <a:solidFill>
                        <a:srgbClr val="E4E0D8"/>
                      </a:solidFill>
                      <a:prstDash val="solid"/>
                      <a:round/>
                      <a:headEnd type="none" w="med" len="med"/>
                      <a:tailEnd type="none" w="med" len="med"/>
                    </a:lnL>
                    <a:lnR w="12700" cap="flat" cmpd="sng" algn="ctr">
                      <a:solidFill>
                        <a:srgbClr val="E4E0D8"/>
                      </a:solidFill>
                      <a:prstDash val="solid"/>
                      <a:round/>
                      <a:headEnd type="none" w="med" len="med"/>
                      <a:tailEnd type="none" w="med" len="med"/>
                    </a:lnR>
                    <a:lnT w="12700" cap="flat" cmpd="sng" algn="ctr">
                      <a:solidFill>
                        <a:srgbClr val="E4E0D8"/>
                      </a:solidFill>
                      <a:prstDash val="solid"/>
                      <a:round/>
                      <a:headEnd type="none" w="med" len="med"/>
                      <a:tailEnd type="none" w="med" len="med"/>
                    </a:lnT>
                    <a:lnB w="12700" cap="flat" cmpd="sng" algn="ctr">
                      <a:solidFill>
                        <a:srgbClr val="E4E0D8"/>
                      </a:solidFill>
                      <a:prstDash val="solid"/>
                      <a:round/>
                      <a:headEnd type="none" w="med" len="med"/>
                      <a:tailEnd type="none" w="med" len="med"/>
                    </a:lnB>
                  </a:tcPr>
                </a:tc>
                <a:tc>
                  <a:txBody>
                    <a:bodyPr/>
                    <a:lstStyle/>
                    <a:p>
                      <a:pPr indent="0" marL="0">
                        <a:buNone/>
                      </a:pPr>
                      <a:r>
                        <a:rPr lang="en-US" sz="1250" dirty="0">
                          <a:solidFill>
                            <a:srgbClr val="23262B"/>
                          </a:solidFill>
                          <a:latin typeface="Calibri" pitchFamily="34" charset="0"/>
                          <a:ea typeface="Calibri" pitchFamily="34" charset="-122"/>
                          <a:cs typeface="Calibri" pitchFamily="34" charset="-120"/>
                        </a:rPr>
                        <a:t>Fecha del registro diario</a:t>
                      </a:r>
                      <a:endParaRPr lang="en-US" sz="1250" dirty="0">
                        <a:latin typeface="Calibri" charset="0"/>
                        <a:ea typeface="Calibri" charset="0"/>
                        <a:cs typeface="Calibri" charset="0"/>
                      </a:endParaRPr>
                    </a:p>
                  </a:txBody>
                  <a:tcPr marL="91440" marR="91440" marT="45720" marB="45720">
                    <a:lnL w="12700" cap="flat" cmpd="sng" algn="ctr">
                      <a:solidFill>
                        <a:srgbClr val="E4E0D8"/>
                      </a:solidFill>
                      <a:prstDash val="solid"/>
                      <a:round/>
                      <a:headEnd type="none" w="med" len="med"/>
                      <a:tailEnd type="none" w="med" len="med"/>
                    </a:lnL>
                    <a:lnR w="12700" cap="flat" cmpd="sng" algn="ctr">
                      <a:solidFill>
                        <a:srgbClr val="E4E0D8"/>
                      </a:solidFill>
                      <a:prstDash val="solid"/>
                      <a:round/>
                      <a:headEnd type="none" w="med" len="med"/>
                      <a:tailEnd type="none" w="med" len="med"/>
                    </a:lnR>
                    <a:lnT w="12700" cap="flat" cmpd="sng" algn="ctr">
                      <a:solidFill>
                        <a:srgbClr val="E4E0D8"/>
                      </a:solidFill>
                      <a:prstDash val="solid"/>
                      <a:round/>
                      <a:headEnd type="none" w="med" len="med"/>
                      <a:tailEnd type="none" w="med" len="med"/>
                    </a:lnT>
                    <a:lnB w="12700" cap="flat" cmpd="sng" algn="ctr">
                      <a:solidFill>
                        <a:srgbClr val="E4E0D8"/>
                      </a:solidFill>
                      <a:prstDash val="solid"/>
                      <a:round/>
                      <a:headEnd type="none" w="med" len="med"/>
                      <a:tailEnd type="none" w="med" len="med"/>
                    </a:lnB>
                  </a:tcPr>
                </a:tc>
                <a:tc>
                  <a:txBody>
                    <a:bodyPr/>
                    <a:lstStyle/>
                    <a:p>
                      <a:pPr indent="0" marL="0">
                        <a:buNone/>
                      </a:pPr>
                      <a:r>
                        <a:rPr lang="en-US" sz="1250" dirty="0">
                          <a:solidFill>
                            <a:srgbClr val="23262B"/>
                          </a:solidFill>
                          <a:latin typeface="Calibri" pitchFamily="34" charset="0"/>
                          <a:ea typeface="Calibri" pitchFamily="34" charset="-122"/>
                          <a:cs typeface="Calibri" pitchFamily="34" charset="-120"/>
                        </a:rPr>
                        <a:t>Texto, no tipo fecha</a:t>
                      </a:r>
                      <a:endParaRPr lang="en-US" sz="1250" dirty="0">
                        <a:latin typeface="Calibri" charset="0"/>
                        <a:ea typeface="Calibri" charset="0"/>
                        <a:cs typeface="Calibri" charset="0"/>
                      </a:endParaRPr>
                    </a:p>
                  </a:txBody>
                  <a:tcPr marL="91440" marR="91440" marT="45720" marB="45720">
                    <a:lnL w="12700" cap="flat" cmpd="sng" algn="ctr">
                      <a:solidFill>
                        <a:srgbClr val="E4E0D8"/>
                      </a:solidFill>
                      <a:prstDash val="solid"/>
                      <a:round/>
                      <a:headEnd type="none" w="med" len="med"/>
                      <a:tailEnd type="none" w="med" len="med"/>
                    </a:lnL>
                    <a:lnR w="12700" cap="flat" cmpd="sng" algn="ctr">
                      <a:solidFill>
                        <a:srgbClr val="E4E0D8"/>
                      </a:solidFill>
                      <a:prstDash val="solid"/>
                      <a:round/>
                      <a:headEnd type="none" w="med" len="med"/>
                      <a:tailEnd type="none" w="med" len="med"/>
                    </a:lnR>
                    <a:lnT w="12700" cap="flat" cmpd="sng" algn="ctr">
                      <a:solidFill>
                        <a:srgbClr val="E4E0D8"/>
                      </a:solidFill>
                      <a:prstDash val="solid"/>
                      <a:round/>
                      <a:headEnd type="none" w="med" len="med"/>
                      <a:tailEnd type="none" w="med" len="med"/>
                    </a:lnT>
                    <a:lnB w="12700" cap="flat" cmpd="sng" algn="ctr">
                      <a:solidFill>
                        <a:srgbClr val="E4E0D8"/>
                      </a:solidFill>
                      <a:prstDash val="solid"/>
                      <a:round/>
                      <a:headEnd type="none" w="med" len="med"/>
                      <a:tailEnd type="none" w="med" len="med"/>
                    </a:lnB>
                  </a:tcPr>
                </a:tc>
              </a:tr>
              <a:tr h="457200">
                <a:tc>
                  <a:txBody>
                    <a:bodyPr/>
                    <a:lstStyle/>
                    <a:p>
                      <a:pPr indent="0" marL="0">
                        <a:buNone/>
                      </a:pPr>
                      <a:r>
                        <a:rPr lang="en-US" sz="1250" dirty="0">
                          <a:solidFill>
                            <a:srgbClr val="23262B"/>
                          </a:solidFill>
                          <a:latin typeface="Calibri" pitchFamily="34" charset="0"/>
                          <a:ea typeface="Calibri" pitchFamily="34" charset="-122"/>
                          <a:cs typeface="Calibri" pitchFamily="34" charset="-120"/>
                        </a:rPr>
                        <a:t>Fecha final</a:t>
                      </a:r>
                      <a:endParaRPr lang="en-US" sz="1250" dirty="0">
                        <a:latin typeface="Calibri" charset="0"/>
                        <a:ea typeface="Calibri" charset="0"/>
                        <a:cs typeface="Calibri" charset="0"/>
                      </a:endParaRPr>
                    </a:p>
                  </a:txBody>
                  <a:tcPr marL="91440" marR="91440" marT="45720" marB="45720">
                    <a:lnL w="12700" cap="flat" cmpd="sng" algn="ctr">
                      <a:solidFill>
                        <a:srgbClr val="E4E0D8"/>
                      </a:solidFill>
                      <a:prstDash val="solid"/>
                      <a:round/>
                      <a:headEnd type="none" w="med" len="med"/>
                      <a:tailEnd type="none" w="med" len="med"/>
                    </a:lnL>
                    <a:lnR w="12700" cap="flat" cmpd="sng" algn="ctr">
                      <a:solidFill>
                        <a:srgbClr val="E4E0D8"/>
                      </a:solidFill>
                      <a:prstDash val="solid"/>
                      <a:round/>
                      <a:headEnd type="none" w="med" len="med"/>
                      <a:tailEnd type="none" w="med" len="med"/>
                    </a:lnR>
                    <a:lnT w="12700" cap="flat" cmpd="sng" algn="ctr">
                      <a:solidFill>
                        <a:srgbClr val="E4E0D8"/>
                      </a:solidFill>
                      <a:prstDash val="solid"/>
                      <a:round/>
                      <a:headEnd type="none" w="med" len="med"/>
                      <a:tailEnd type="none" w="med" len="med"/>
                    </a:lnT>
                    <a:lnB w="12700" cap="flat" cmpd="sng" algn="ctr">
                      <a:solidFill>
                        <a:srgbClr val="E4E0D8"/>
                      </a:solidFill>
                      <a:prstDash val="solid"/>
                      <a:round/>
                      <a:headEnd type="none" w="med" len="med"/>
                      <a:tailEnd type="none" w="med" len="med"/>
                    </a:lnB>
                  </a:tcPr>
                </a:tc>
                <a:tc>
                  <a:txBody>
                    <a:bodyPr/>
                    <a:lstStyle/>
                    <a:p>
                      <a:pPr indent="0" marL="0">
                        <a:buNone/>
                      </a:pPr>
                      <a:r>
                        <a:rPr lang="en-US" sz="1250" dirty="0">
                          <a:solidFill>
                            <a:srgbClr val="23262B"/>
                          </a:solidFill>
                          <a:latin typeface="Calibri" pitchFamily="34" charset="0"/>
                          <a:ea typeface="Calibri" pitchFamily="34" charset="-122"/>
                          <a:cs typeface="Calibri" pitchFamily="34" charset="-120"/>
                        </a:rPr>
                        <a:t>Fecha de cierre del periodo</a:t>
                      </a:r>
                      <a:endParaRPr lang="en-US" sz="1250" dirty="0">
                        <a:latin typeface="Calibri" charset="0"/>
                        <a:ea typeface="Calibri" charset="0"/>
                        <a:cs typeface="Calibri" charset="0"/>
                      </a:endParaRPr>
                    </a:p>
                  </a:txBody>
                  <a:tcPr marL="91440" marR="91440" marT="45720" marB="45720">
                    <a:lnL w="12700" cap="flat" cmpd="sng" algn="ctr">
                      <a:solidFill>
                        <a:srgbClr val="E4E0D8"/>
                      </a:solidFill>
                      <a:prstDash val="solid"/>
                      <a:round/>
                      <a:headEnd type="none" w="med" len="med"/>
                      <a:tailEnd type="none" w="med" len="med"/>
                    </a:lnL>
                    <a:lnR w="12700" cap="flat" cmpd="sng" algn="ctr">
                      <a:solidFill>
                        <a:srgbClr val="E4E0D8"/>
                      </a:solidFill>
                      <a:prstDash val="solid"/>
                      <a:round/>
                      <a:headEnd type="none" w="med" len="med"/>
                      <a:tailEnd type="none" w="med" len="med"/>
                    </a:lnR>
                    <a:lnT w="12700" cap="flat" cmpd="sng" algn="ctr">
                      <a:solidFill>
                        <a:srgbClr val="E4E0D8"/>
                      </a:solidFill>
                      <a:prstDash val="solid"/>
                      <a:round/>
                      <a:headEnd type="none" w="med" len="med"/>
                      <a:tailEnd type="none" w="med" len="med"/>
                    </a:lnT>
                    <a:lnB w="12700" cap="flat" cmpd="sng" algn="ctr">
                      <a:solidFill>
                        <a:srgbClr val="E4E0D8"/>
                      </a:solidFill>
                      <a:prstDash val="solid"/>
                      <a:round/>
                      <a:headEnd type="none" w="med" len="med"/>
                      <a:tailEnd type="none" w="med" len="med"/>
                    </a:lnB>
                  </a:tcPr>
                </a:tc>
                <a:tc>
                  <a:txBody>
                    <a:bodyPr/>
                    <a:lstStyle/>
                    <a:p>
                      <a:pPr indent="0" marL="0">
                        <a:buNone/>
                      </a:pPr>
                      <a:r>
                        <a:rPr lang="en-US" sz="1250" dirty="0">
                          <a:solidFill>
                            <a:srgbClr val="23262B"/>
                          </a:solidFill>
                          <a:latin typeface="Calibri" pitchFamily="34" charset="0"/>
                          <a:ea typeface="Calibri" pitchFamily="34" charset="-122"/>
                          <a:cs typeface="Calibri" pitchFamily="34" charset="-120"/>
                        </a:rPr>
                        <a:t>100% de valores vacíos</a:t>
                      </a:r>
                      <a:endParaRPr lang="en-US" sz="1250" dirty="0">
                        <a:latin typeface="Calibri" charset="0"/>
                        <a:ea typeface="Calibri" charset="0"/>
                        <a:cs typeface="Calibri" charset="0"/>
                      </a:endParaRPr>
                    </a:p>
                  </a:txBody>
                  <a:tcPr marL="91440" marR="91440" marT="45720" marB="45720">
                    <a:lnL w="12700" cap="flat" cmpd="sng" algn="ctr">
                      <a:solidFill>
                        <a:srgbClr val="E4E0D8"/>
                      </a:solidFill>
                      <a:prstDash val="solid"/>
                      <a:round/>
                      <a:headEnd type="none" w="med" len="med"/>
                      <a:tailEnd type="none" w="med" len="med"/>
                    </a:lnL>
                    <a:lnR w="12700" cap="flat" cmpd="sng" algn="ctr">
                      <a:solidFill>
                        <a:srgbClr val="E4E0D8"/>
                      </a:solidFill>
                      <a:prstDash val="solid"/>
                      <a:round/>
                      <a:headEnd type="none" w="med" len="med"/>
                      <a:tailEnd type="none" w="med" len="med"/>
                    </a:lnR>
                    <a:lnT w="12700" cap="flat" cmpd="sng" algn="ctr">
                      <a:solidFill>
                        <a:srgbClr val="E4E0D8"/>
                      </a:solidFill>
                      <a:prstDash val="solid"/>
                      <a:round/>
                      <a:headEnd type="none" w="med" len="med"/>
                      <a:tailEnd type="none" w="med" len="med"/>
                    </a:lnT>
                    <a:lnB w="12700" cap="flat" cmpd="sng" algn="ctr">
                      <a:solidFill>
                        <a:srgbClr val="E4E0D8"/>
                      </a:solidFill>
                      <a:prstDash val="solid"/>
                      <a:round/>
                      <a:headEnd type="none" w="med" len="med"/>
                      <a:tailEnd type="none" w="med" len="med"/>
                    </a:lnB>
                  </a:tcPr>
                </a:tc>
              </a:tr>
              <a:tr h="457200">
                <a:tc>
                  <a:txBody>
                    <a:bodyPr/>
                    <a:lstStyle/>
                    <a:p>
                      <a:pPr indent="0" marL="0">
                        <a:buNone/>
                      </a:pPr>
                      <a:r>
                        <a:rPr lang="en-US" sz="1250" dirty="0">
                          <a:solidFill>
                            <a:srgbClr val="23262B"/>
                          </a:solidFill>
                          <a:latin typeface="Calibri" pitchFamily="34" charset="0"/>
                          <a:ea typeface="Calibri" pitchFamily="34" charset="-122"/>
                          <a:cs typeface="Calibri" pitchFamily="34" charset="-120"/>
                        </a:rPr>
                        <a:t>PM2.5</a:t>
                      </a:r>
                      <a:endParaRPr lang="en-US" sz="1250" dirty="0">
                        <a:latin typeface="Calibri" charset="0"/>
                        <a:ea typeface="Calibri" charset="0"/>
                        <a:cs typeface="Calibri" charset="0"/>
                      </a:endParaRPr>
                    </a:p>
                  </a:txBody>
                  <a:tcPr marL="91440" marR="91440" marT="45720" marB="45720">
                    <a:lnL w="12700" cap="flat" cmpd="sng" algn="ctr">
                      <a:solidFill>
                        <a:srgbClr val="E4E0D8"/>
                      </a:solidFill>
                      <a:prstDash val="solid"/>
                      <a:round/>
                      <a:headEnd type="none" w="med" len="med"/>
                      <a:tailEnd type="none" w="med" len="med"/>
                    </a:lnL>
                    <a:lnR w="12700" cap="flat" cmpd="sng" algn="ctr">
                      <a:solidFill>
                        <a:srgbClr val="E4E0D8"/>
                      </a:solidFill>
                      <a:prstDash val="solid"/>
                      <a:round/>
                      <a:headEnd type="none" w="med" len="med"/>
                      <a:tailEnd type="none" w="med" len="med"/>
                    </a:lnR>
                    <a:lnT w="12700" cap="flat" cmpd="sng" algn="ctr">
                      <a:solidFill>
                        <a:srgbClr val="E4E0D8"/>
                      </a:solidFill>
                      <a:prstDash val="solid"/>
                      <a:round/>
                      <a:headEnd type="none" w="med" len="med"/>
                      <a:tailEnd type="none" w="med" len="med"/>
                    </a:lnT>
                    <a:lnB w="12700" cap="flat" cmpd="sng" algn="ctr">
                      <a:solidFill>
                        <a:srgbClr val="E4E0D8"/>
                      </a:solidFill>
                      <a:prstDash val="solid"/>
                      <a:round/>
                      <a:headEnd type="none" w="med" len="med"/>
                      <a:tailEnd type="none" w="med" len="med"/>
                    </a:lnB>
                  </a:tcPr>
                </a:tc>
                <a:tc>
                  <a:txBody>
                    <a:bodyPr/>
                    <a:lstStyle/>
                    <a:p>
                      <a:pPr indent="0" marL="0">
                        <a:buNone/>
                      </a:pPr>
                      <a:r>
                        <a:rPr lang="en-US" sz="1250" dirty="0">
                          <a:solidFill>
                            <a:srgbClr val="23262B"/>
                          </a:solidFill>
                          <a:latin typeface="Calibri" pitchFamily="34" charset="0"/>
                          <a:ea typeface="Calibri" pitchFamily="34" charset="-122"/>
                          <a:cs typeface="Calibri" pitchFamily="34" charset="-120"/>
                        </a:rPr>
                        <a:t>Concentración de partículas finas (µg/m³)</a:t>
                      </a:r>
                      <a:endParaRPr lang="en-US" sz="1250" dirty="0">
                        <a:latin typeface="Calibri" charset="0"/>
                        <a:ea typeface="Calibri" charset="0"/>
                        <a:cs typeface="Calibri" charset="0"/>
                      </a:endParaRPr>
                    </a:p>
                  </a:txBody>
                  <a:tcPr marL="91440" marR="91440" marT="45720" marB="45720">
                    <a:lnL w="12700" cap="flat" cmpd="sng" algn="ctr">
                      <a:solidFill>
                        <a:srgbClr val="E4E0D8"/>
                      </a:solidFill>
                      <a:prstDash val="solid"/>
                      <a:round/>
                      <a:headEnd type="none" w="med" len="med"/>
                      <a:tailEnd type="none" w="med" len="med"/>
                    </a:lnL>
                    <a:lnR w="12700" cap="flat" cmpd="sng" algn="ctr">
                      <a:solidFill>
                        <a:srgbClr val="E4E0D8"/>
                      </a:solidFill>
                      <a:prstDash val="solid"/>
                      <a:round/>
                      <a:headEnd type="none" w="med" len="med"/>
                      <a:tailEnd type="none" w="med" len="med"/>
                    </a:lnR>
                    <a:lnT w="12700" cap="flat" cmpd="sng" algn="ctr">
                      <a:solidFill>
                        <a:srgbClr val="E4E0D8"/>
                      </a:solidFill>
                      <a:prstDash val="solid"/>
                      <a:round/>
                      <a:headEnd type="none" w="med" len="med"/>
                      <a:tailEnd type="none" w="med" len="med"/>
                    </a:lnT>
                    <a:lnB w="12700" cap="flat" cmpd="sng" algn="ctr">
                      <a:solidFill>
                        <a:srgbClr val="E4E0D8"/>
                      </a:solidFill>
                      <a:prstDash val="solid"/>
                      <a:round/>
                      <a:headEnd type="none" w="med" len="med"/>
                      <a:tailEnd type="none" w="med" len="med"/>
                    </a:lnB>
                  </a:tcPr>
                </a:tc>
                <a:tc>
                  <a:txBody>
                    <a:bodyPr/>
                    <a:lstStyle/>
                    <a:p>
                      <a:pPr indent="0" marL="0">
                        <a:buNone/>
                      </a:pPr>
                      <a:r>
                        <a:rPr lang="en-US" sz="1250" dirty="0">
                          <a:solidFill>
                            <a:srgbClr val="23262B"/>
                          </a:solidFill>
                          <a:latin typeface="Calibri" pitchFamily="34" charset="0"/>
                          <a:ea typeface="Calibri" pitchFamily="34" charset="-122"/>
                          <a:cs typeface="Calibri" pitchFamily="34" charset="-120"/>
                        </a:rPr>
                        <a:t>Numérica, con posibles valores imposibles</a:t>
                      </a:r>
                      <a:endParaRPr lang="en-US" sz="1250" dirty="0">
                        <a:latin typeface="Calibri" charset="0"/>
                        <a:ea typeface="Calibri" charset="0"/>
                        <a:cs typeface="Calibri" charset="0"/>
                      </a:endParaRPr>
                    </a:p>
                  </a:txBody>
                  <a:tcPr marL="91440" marR="91440" marT="45720" marB="45720">
                    <a:lnL w="12700" cap="flat" cmpd="sng" algn="ctr">
                      <a:solidFill>
                        <a:srgbClr val="E4E0D8"/>
                      </a:solidFill>
                      <a:prstDash val="solid"/>
                      <a:round/>
                      <a:headEnd type="none" w="med" len="med"/>
                      <a:tailEnd type="none" w="med" len="med"/>
                    </a:lnL>
                    <a:lnR w="12700" cap="flat" cmpd="sng" algn="ctr">
                      <a:solidFill>
                        <a:srgbClr val="E4E0D8"/>
                      </a:solidFill>
                      <a:prstDash val="solid"/>
                      <a:round/>
                      <a:headEnd type="none" w="med" len="med"/>
                      <a:tailEnd type="none" w="med" len="med"/>
                    </a:lnR>
                    <a:lnT w="12700" cap="flat" cmpd="sng" algn="ctr">
                      <a:solidFill>
                        <a:srgbClr val="E4E0D8"/>
                      </a:solidFill>
                      <a:prstDash val="solid"/>
                      <a:round/>
                      <a:headEnd type="none" w="med" len="med"/>
                      <a:tailEnd type="none" w="med" len="med"/>
                    </a:lnT>
                    <a:lnB w="12700" cap="flat" cmpd="sng" algn="ctr">
                      <a:solidFill>
                        <a:srgbClr val="E4E0D8"/>
                      </a:solidFill>
                      <a:prstDash val="solid"/>
                      <a:round/>
                      <a:headEnd type="none" w="med" len="med"/>
                      <a:tailEnd type="none" w="med" len="med"/>
                    </a:lnB>
                  </a:tcPr>
                </a:tc>
              </a:tr>
            </a:tbl>
          </a:graphicData>
        </a:graphic>
      </p:graphicFrame>
      <p:sp>
        <p:nvSpPr>
          <p:cNvPr id="6" name="Shape 3"/>
          <p:cNvSpPr/>
          <p:nvPr/>
        </p:nvSpPr>
        <p:spPr>
          <a:xfrm>
            <a:off x="548640" y="4800600"/>
            <a:ext cx="10881360" cy="1234440"/>
          </a:xfrm>
          <a:prstGeom prst="rect">
            <a:avLst/>
          </a:prstGeom>
          <a:solidFill>
            <a:srgbClr val="F4D9AE"/>
          </a:solidFill>
          <a:ln/>
        </p:spPr>
      </p:sp>
      <p:sp>
        <p:nvSpPr>
          <p:cNvPr id="7" name="Text 4"/>
          <p:cNvSpPr/>
          <p:nvPr/>
        </p:nvSpPr>
        <p:spPr>
          <a:xfrm>
            <a:off x="868680" y="4937760"/>
            <a:ext cx="10241280" cy="960120"/>
          </a:xfrm>
          <a:prstGeom prst="rect">
            <a:avLst/>
          </a:prstGeom>
          <a:noFill/>
          <a:ln/>
        </p:spPr>
        <p:txBody>
          <a:bodyPr wrap="square" rtlCol="0" anchor="ctr"/>
          <a:lstStyle/>
          <a:p>
            <a:pPr indent="0" marL="0">
              <a:buNone/>
            </a:pPr>
            <a:r>
              <a:rPr lang="en-US" sz="1450" i="1" dirty="0">
                <a:solidFill>
                  <a:srgbClr val="6B4A1E"/>
                </a:solidFill>
                <a:latin typeface="Cambria" pitchFamily="34" charset="0"/>
                <a:ea typeface="Cambria" pitchFamily="34" charset="-122"/>
                <a:cs typeface="Cambria" pitchFamily="34" charset="-120"/>
              </a:rPr>
              <a:t>Hallazgo inicial: la columna “fecha_final” está completamente vacía y las 27 estaciones tienen nombres escritos de forma distinta entre archivos — ambos problemas se resuelven en la limpieza.</a:t>
            </a:r>
            <a:endParaRPr lang="en-US" sz="1450" dirty="0"/>
          </a:p>
        </p:txBody>
      </p:sp>
      <p:sp>
        <p:nvSpPr>
          <p:cNvPr id="8" name="Text 5"/>
          <p:cNvSpPr/>
          <p:nvPr/>
        </p:nvSpPr>
        <p:spPr>
          <a:xfrm>
            <a:off x="11475720" y="6473952"/>
            <a:ext cx="548640" cy="274320"/>
          </a:xfrm>
          <a:prstGeom prst="rect">
            <a:avLst/>
          </a:prstGeom>
          <a:noFill/>
          <a:ln/>
        </p:spPr>
        <p:txBody>
          <a:bodyPr wrap="square" rtlCol="0" anchor="ctr"/>
          <a:lstStyle/>
          <a:p>
            <a:pPr algn="r" indent="0" marL="0">
              <a:buNone/>
            </a:pPr>
            <a:r>
              <a:rPr lang="en-US" sz="1000" dirty="0">
                <a:solidFill>
                  <a:srgbClr val="6B7078"/>
                </a:solidFill>
                <a:latin typeface="Calibri" pitchFamily="34" charset="0"/>
                <a:ea typeface="Calibri" pitchFamily="34" charset="-122"/>
                <a:cs typeface="Calibri" pitchFamily="34" charset="-120"/>
              </a:rPr>
              <a:t>05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23262B"/>
        </a:solidFill>
      </p:bgPr>
    </p:bg>
    <p:spTree>
      <p:nvGrpSpPr>
        <p:cNvPr id="1" name=""/>
        <p:cNvGrpSpPr/>
        <p:nvPr/>
      </p:nvGrpSpPr>
      <p:grpSpPr>
        <a:xfrm>
          <a:off x="0" y="0"/>
          <a:ext cx="0" cy="0"/>
          <a:chOff x="0" y="0"/>
          <a:chExt cx="0" cy="0"/>
        </a:xfrm>
      </p:grpSpPr>
      <p:sp>
        <p:nvSpPr>
          <p:cNvPr id="2" name="Text 0"/>
          <p:cNvSpPr/>
          <p:nvPr/>
        </p:nvSpPr>
        <p:spPr>
          <a:xfrm>
            <a:off x="548640" y="457200"/>
            <a:ext cx="7315200" cy="320040"/>
          </a:xfrm>
          <a:prstGeom prst="rect">
            <a:avLst/>
          </a:prstGeom>
          <a:noFill/>
          <a:ln/>
        </p:spPr>
        <p:txBody>
          <a:bodyPr wrap="square" rtlCol="0" anchor="ctr"/>
          <a:lstStyle/>
          <a:p>
            <a:pPr indent="0" marL="0">
              <a:buNone/>
            </a:pPr>
            <a:r>
              <a:rPr lang="en-US" sz="1300" b="1" spc="200" kern="0" dirty="0">
                <a:solidFill>
                  <a:srgbClr val="E9A23B"/>
                </a:solidFill>
                <a:latin typeface="Calibri" pitchFamily="34" charset="0"/>
                <a:ea typeface="Calibri" pitchFamily="34" charset="-122"/>
                <a:cs typeface="Calibri" pitchFamily="34" charset="-120"/>
              </a:rPr>
              <a:t>PREPARACIÓN DE DATOS</a:t>
            </a:r>
            <a:endParaRPr lang="en-US" sz="1300" dirty="0"/>
          </a:p>
        </p:txBody>
      </p:sp>
      <p:sp>
        <p:nvSpPr>
          <p:cNvPr id="3" name="Text 1"/>
          <p:cNvSpPr/>
          <p:nvPr/>
        </p:nvSpPr>
        <p:spPr>
          <a:xfrm>
            <a:off x="548640" y="777240"/>
            <a:ext cx="10515600" cy="822960"/>
          </a:xfrm>
          <a:prstGeom prst="rect">
            <a:avLst/>
          </a:prstGeom>
          <a:noFill/>
          <a:ln/>
        </p:spPr>
        <p:txBody>
          <a:bodyPr wrap="square" rtlCol="0" anchor="ctr"/>
          <a:lstStyle/>
          <a:p>
            <a:pPr algn="l" indent="0" marL="0">
              <a:buNone/>
            </a:pPr>
            <a:r>
              <a:rPr lang="en-US" sz="3200" b="1" dirty="0">
                <a:solidFill>
                  <a:srgbClr val="FFFFFF"/>
                </a:solidFill>
                <a:latin typeface="Cambria" pitchFamily="34" charset="0"/>
                <a:ea typeface="Cambria" pitchFamily="34" charset="-122"/>
                <a:cs typeface="Cambria" pitchFamily="34" charset="-120"/>
              </a:rPr>
              <a:t>Proceso de limpieza</a:t>
            </a:r>
            <a:endParaRPr lang="en-US" sz="3200" dirty="0"/>
          </a:p>
        </p:txBody>
      </p:sp>
      <p:sp>
        <p:nvSpPr>
          <p:cNvPr id="4" name="Shape 2"/>
          <p:cNvSpPr/>
          <p:nvPr/>
        </p:nvSpPr>
        <p:spPr>
          <a:xfrm>
            <a:off x="548640" y="1828800"/>
            <a:ext cx="457200" cy="457200"/>
          </a:xfrm>
          <a:prstGeom prst="ellipse">
            <a:avLst/>
          </a:prstGeom>
          <a:solidFill>
            <a:srgbClr val="E9A23B"/>
          </a:solidFill>
          <a:ln/>
        </p:spPr>
      </p:sp>
      <p:sp>
        <p:nvSpPr>
          <p:cNvPr id="5" name="Text 3"/>
          <p:cNvSpPr/>
          <p:nvPr/>
        </p:nvSpPr>
        <p:spPr>
          <a:xfrm>
            <a:off x="548640" y="1828800"/>
            <a:ext cx="457200" cy="457200"/>
          </a:xfrm>
          <a:prstGeom prst="rect">
            <a:avLst/>
          </a:prstGeom>
          <a:noFill/>
          <a:ln/>
        </p:spPr>
        <p:txBody>
          <a:bodyPr wrap="square" rtlCol="0" anchor="ctr"/>
          <a:lstStyle/>
          <a:p>
            <a:pPr algn="ctr" indent="0" marL="0">
              <a:buNone/>
            </a:pPr>
            <a:r>
              <a:rPr lang="en-US" sz="1500" b="1" dirty="0">
                <a:solidFill>
                  <a:srgbClr val="23262B"/>
                </a:solidFill>
                <a:latin typeface="Cambria" pitchFamily="34" charset="0"/>
                <a:ea typeface="Cambria" pitchFamily="34" charset="-122"/>
                <a:cs typeface="Cambria" pitchFamily="34" charset="-120"/>
              </a:rPr>
              <a:t>1</a:t>
            </a:r>
            <a:endParaRPr lang="en-US" sz="1500" dirty="0"/>
          </a:p>
        </p:txBody>
      </p:sp>
      <p:sp>
        <p:nvSpPr>
          <p:cNvPr id="6" name="Text 4"/>
          <p:cNvSpPr/>
          <p:nvPr/>
        </p:nvSpPr>
        <p:spPr>
          <a:xfrm>
            <a:off x="1143000" y="1755648"/>
            <a:ext cx="4754880" cy="685800"/>
          </a:xfrm>
          <a:prstGeom prst="rect">
            <a:avLst/>
          </a:prstGeom>
          <a:noFill/>
          <a:ln/>
        </p:spPr>
        <p:txBody>
          <a:bodyPr wrap="square" rtlCol="0" anchor="ctr"/>
          <a:lstStyle/>
          <a:p>
            <a:pPr indent="0" marL="0">
              <a:lnSpc>
                <a:spcPct val="110000"/>
              </a:lnSpc>
              <a:buNone/>
            </a:pPr>
            <a:r>
              <a:rPr lang="en-US" sz="1300" dirty="0">
                <a:solidFill>
                  <a:srgbClr val="FFFFFF"/>
                </a:solidFill>
                <a:latin typeface="Calibri" pitchFamily="34" charset="0"/>
                <a:ea typeface="Calibri" pitchFamily="34" charset="-122"/>
                <a:cs typeface="Calibri" pitchFamily="34" charset="-120"/>
              </a:rPr>
              <a:t>Se normalizaron los nombres de columnas a snake_case.</a:t>
            </a:r>
            <a:endParaRPr lang="en-US" sz="1300" dirty="0"/>
          </a:p>
        </p:txBody>
      </p:sp>
      <p:sp>
        <p:nvSpPr>
          <p:cNvPr id="7" name="Shape 5"/>
          <p:cNvSpPr/>
          <p:nvPr/>
        </p:nvSpPr>
        <p:spPr>
          <a:xfrm>
            <a:off x="548640" y="2578608"/>
            <a:ext cx="457200" cy="457200"/>
          </a:xfrm>
          <a:prstGeom prst="ellipse">
            <a:avLst/>
          </a:prstGeom>
          <a:solidFill>
            <a:srgbClr val="E9A23B"/>
          </a:solidFill>
          <a:ln/>
        </p:spPr>
      </p:sp>
      <p:sp>
        <p:nvSpPr>
          <p:cNvPr id="8" name="Text 6"/>
          <p:cNvSpPr/>
          <p:nvPr/>
        </p:nvSpPr>
        <p:spPr>
          <a:xfrm>
            <a:off x="548640" y="2578608"/>
            <a:ext cx="457200" cy="457200"/>
          </a:xfrm>
          <a:prstGeom prst="rect">
            <a:avLst/>
          </a:prstGeom>
          <a:noFill/>
          <a:ln/>
        </p:spPr>
        <p:txBody>
          <a:bodyPr wrap="square" rtlCol="0" anchor="ctr"/>
          <a:lstStyle/>
          <a:p>
            <a:pPr algn="ctr" indent="0" marL="0">
              <a:buNone/>
            </a:pPr>
            <a:r>
              <a:rPr lang="en-US" sz="1500" b="1" dirty="0">
                <a:solidFill>
                  <a:srgbClr val="23262B"/>
                </a:solidFill>
                <a:latin typeface="Cambria" pitchFamily="34" charset="0"/>
                <a:ea typeface="Cambria" pitchFamily="34" charset="-122"/>
                <a:cs typeface="Cambria" pitchFamily="34" charset="-120"/>
              </a:rPr>
              <a:t>2</a:t>
            </a:r>
            <a:endParaRPr lang="en-US" sz="1500" dirty="0"/>
          </a:p>
        </p:txBody>
      </p:sp>
      <p:sp>
        <p:nvSpPr>
          <p:cNvPr id="9" name="Text 7"/>
          <p:cNvSpPr/>
          <p:nvPr/>
        </p:nvSpPr>
        <p:spPr>
          <a:xfrm>
            <a:off x="1143000" y="2505456"/>
            <a:ext cx="4754880" cy="685800"/>
          </a:xfrm>
          <a:prstGeom prst="rect">
            <a:avLst/>
          </a:prstGeom>
          <a:noFill/>
          <a:ln/>
        </p:spPr>
        <p:txBody>
          <a:bodyPr wrap="square" rtlCol="0" anchor="ctr"/>
          <a:lstStyle/>
          <a:p>
            <a:pPr indent="0" marL="0">
              <a:lnSpc>
                <a:spcPct val="110000"/>
              </a:lnSpc>
              <a:buNone/>
            </a:pPr>
            <a:r>
              <a:rPr lang="en-US" sz="1300" dirty="0">
                <a:solidFill>
                  <a:srgbClr val="FFFFFF"/>
                </a:solidFill>
                <a:latin typeface="Calibri" pitchFamily="34" charset="0"/>
                <a:ea typeface="Calibri" pitchFamily="34" charset="-122"/>
                <a:cs typeface="Calibri" pitchFamily="34" charset="-120"/>
              </a:rPr>
              <a:t>Se eliminaron filas duplicadas exactas.</a:t>
            </a:r>
            <a:endParaRPr lang="en-US" sz="1300" dirty="0"/>
          </a:p>
        </p:txBody>
      </p:sp>
      <p:sp>
        <p:nvSpPr>
          <p:cNvPr id="10" name="Shape 8"/>
          <p:cNvSpPr/>
          <p:nvPr/>
        </p:nvSpPr>
        <p:spPr>
          <a:xfrm>
            <a:off x="548640" y="3328416"/>
            <a:ext cx="457200" cy="457200"/>
          </a:xfrm>
          <a:prstGeom prst="ellipse">
            <a:avLst/>
          </a:prstGeom>
          <a:solidFill>
            <a:srgbClr val="E9A23B"/>
          </a:solidFill>
          <a:ln/>
        </p:spPr>
      </p:sp>
      <p:sp>
        <p:nvSpPr>
          <p:cNvPr id="11" name="Text 9"/>
          <p:cNvSpPr/>
          <p:nvPr/>
        </p:nvSpPr>
        <p:spPr>
          <a:xfrm>
            <a:off x="548640" y="3328416"/>
            <a:ext cx="457200" cy="457200"/>
          </a:xfrm>
          <a:prstGeom prst="rect">
            <a:avLst/>
          </a:prstGeom>
          <a:noFill/>
          <a:ln/>
        </p:spPr>
        <p:txBody>
          <a:bodyPr wrap="square" rtlCol="0" anchor="ctr"/>
          <a:lstStyle/>
          <a:p>
            <a:pPr algn="ctr" indent="0" marL="0">
              <a:buNone/>
            </a:pPr>
            <a:r>
              <a:rPr lang="en-US" sz="1500" b="1" dirty="0">
                <a:solidFill>
                  <a:srgbClr val="23262B"/>
                </a:solidFill>
                <a:latin typeface="Cambria" pitchFamily="34" charset="0"/>
                <a:ea typeface="Cambria" pitchFamily="34" charset="-122"/>
                <a:cs typeface="Cambria" pitchFamily="34" charset="-120"/>
              </a:rPr>
              <a:t>3</a:t>
            </a:r>
            <a:endParaRPr lang="en-US" sz="1500" dirty="0"/>
          </a:p>
        </p:txBody>
      </p:sp>
      <p:sp>
        <p:nvSpPr>
          <p:cNvPr id="12" name="Text 10"/>
          <p:cNvSpPr/>
          <p:nvPr/>
        </p:nvSpPr>
        <p:spPr>
          <a:xfrm>
            <a:off x="1143000" y="3255264"/>
            <a:ext cx="4754880" cy="685800"/>
          </a:xfrm>
          <a:prstGeom prst="rect">
            <a:avLst/>
          </a:prstGeom>
          <a:noFill/>
          <a:ln/>
        </p:spPr>
        <p:txBody>
          <a:bodyPr wrap="square" rtlCol="0" anchor="ctr"/>
          <a:lstStyle/>
          <a:p>
            <a:pPr indent="0" marL="0">
              <a:lnSpc>
                <a:spcPct val="110000"/>
              </a:lnSpc>
              <a:buNone/>
            </a:pPr>
            <a:r>
              <a:rPr lang="en-US" sz="1300" dirty="0">
                <a:solidFill>
                  <a:srgbClr val="FFFFFF"/>
                </a:solidFill>
                <a:latin typeface="Calibri" pitchFamily="34" charset="0"/>
                <a:ea typeface="Calibri" pitchFamily="34" charset="-122"/>
                <a:cs typeface="Calibri" pitchFamily="34" charset="-120"/>
              </a:rPr>
              <a:t>Se unificaron los nombres de las 27 estaciones a un formato único.</a:t>
            </a:r>
            <a:endParaRPr lang="en-US" sz="1300" dirty="0"/>
          </a:p>
        </p:txBody>
      </p:sp>
      <p:sp>
        <p:nvSpPr>
          <p:cNvPr id="13" name="Shape 11"/>
          <p:cNvSpPr/>
          <p:nvPr/>
        </p:nvSpPr>
        <p:spPr>
          <a:xfrm>
            <a:off x="548640" y="4078224"/>
            <a:ext cx="457200" cy="457200"/>
          </a:xfrm>
          <a:prstGeom prst="ellipse">
            <a:avLst/>
          </a:prstGeom>
          <a:solidFill>
            <a:srgbClr val="E9A23B"/>
          </a:solidFill>
          <a:ln/>
        </p:spPr>
      </p:sp>
      <p:sp>
        <p:nvSpPr>
          <p:cNvPr id="14" name="Text 12"/>
          <p:cNvSpPr/>
          <p:nvPr/>
        </p:nvSpPr>
        <p:spPr>
          <a:xfrm>
            <a:off x="548640" y="4078224"/>
            <a:ext cx="457200" cy="457200"/>
          </a:xfrm>
          <a:prstGeom prst="rect">
            <a:avLst/>
          </a:prstGeom>
          <a:noFill/>
          <a:ln/>
        </p:spPr>
        <p:txBody>
          <a:bodyPr wrap="square" rtlCol="0" anchor="ctr"/>
          <a:lstStyle/>
          <a:p>
            <a:pPr algn="ctr" indent="0" marL="0">
              <a:buNone/>
            </a:pPr>
            <a:r>
              <a:rPr lang="en-US" sz="1500" b="1" dirty="0">
                <a:solidFill>
                  <a:srgbClr val="23262B"/>
                </a:solidFill>
                <a:latin typeface="Cambria" pitchFamily="34" charset="0"/>
                <a:ea typeface="Cambria" pitchFamily="34" charset="-122"/>
                <a:cs typeface="Cambria" pitchFamily="34" charset="-120"/>
              </a:rPr>
              <a:t>4</a:t>
            </a:r>
            <a:endParaRPr lang="en-US" sz="1500" dirty="0"/>
          </a:p>
        </p:txBody>
      </p:sp>
      <p:sp>
        <p:nvSpPr>
          <p:cNvPr id="15" name="Text 13"/>
          <p:cNvSpPr/>
          <p:nvPr/>
        </p:nvSpPr>
        <p:spPr>
          <a:xfrm>
            <a:off x="1143000" y="4005072"/>
            <a:ext cx="4754880" cy="685800"/>
          </a:xfrm>
          <a:prstGeom prst="rect">
            <a:avLst/>
          </a:prstGeom>
          <a:noFill/>
          <a:ln/>
        </p:spPr>
        <p:txBody>
          <a:bodyPr wrap="square" rtlCol="0" anchor="ctr"/>
          <a:lstStyle/>
          <a:p>
            <a:pPr indent="0" marL="0">
              <a:lnSpc>
                <a:spcPct val="110000"/>
              </a:lnSpc>
              <a:buNone/>
            </a:pPr>
            <a:r>
              <a:rPr lang="en-US" sz="1300" dirty="0">
                <a:solidFill>
                  <a:srgbClr val="FFFFFF"/>
                </a:solidFill>
                <a:latin typeface="Calibri" pitchFamily="34" charset="0"/>
                <a:ea typeface="Calibri" pitchFamily="34" charset="-122"/>
                <a:cs typeface="Calibri" pitchFamily="34" charset="-120"/>
              </a:rPr>
              <a:t>Se eliminó “fecha_final”: 100% de sus valores estaban vacíos.</a:t>
            </a:r>
            <a:endParaRPr lang="en-US" sz="1300" dirty="0"/>
          </a:p>
        </p:txBody>
      </p:sp>
      <p:sp>
        <p:nvSpPr>
          <p:cNvPr id="16" name="Shape 14"/>
          <p:cNvSpPr/>
          <p:nvPr/>
        </p:nvSpPr>
        <p:spPr>
          <a:xfrm>
            <a:off x="6172200" y="1828800"/>
            <a:ext cx="457200" cy="457200"/>
          </a:xfrm>
          <a:prstGeom prst="ellipse">
            <a:avLst/>
          </a:prstGeom>
          <a:solidFill>
            <a:srgbClr val="E9A23B"/>
          </a:solidFill>
          <a:ln/>
        </p:spPr>
      </p:sp>
      <p:sp>
        <p:nvSpPr>
          <p:cNvPr id="17" name="Text 15"/>
          <p:cNvSpPr/>
          <p:nvPr/>
        </p:nvSpPr>
        <p:spPr>
          <a:xfrm>
            <a:off x="6172200" y="1828800"/>
            <a:ext cx="457200" cy="457200"/>
          </a:xfrm>
          <a:prstGeom prst="rect">
            <a:avLst/>
          </a:prstGeom>
          <a:noFill/>
          <a:ln/>
        </p:spPr>
        <p:txBody>
          <a:bodyPr wrap="square" rtlCol="0" anchor="ctr"/>
          <a:lstStyle/>
          <a:p>
            <a:pPr algn="ctr" indent="0" marL="0">
              <a:buNone/>
            </a:pPr>
            <a:r>
              <a:rPr lang="en-US" sz="1500" b="1" dirty="0">
                <a:solidFill>
                  <a:srgbClr val="23262B"/>
                </a:solidFill>
                <a:latin typeface="Cambria" pitchFamily="34" charset="0"/>
                <a:ea typeface="Cambria" pitchFamily="34" charset="-122"/>
                <a:cs typeface="Cambria" pitchFamily="34" charset="-120"/>
              </a:rPr>
              <a:t>5</a:t>
            </a:r>
            <a:endParaRPr lang="en-US" sz="1500" dirty="0"/>
          </a:p>
        </p:txBody>
      </p:sp>
      <p:sp>
        <p:nvSpPr>
          <p:cNvPr id="18" name="Text 16"/>
          <p:cNvSpPr/>
          <p:nvPr/>
        </p:nvSpPr>
        <p:spPr>
          <a:xfrm>
            <a:off x="6766560" y="1755648"/>
            <a:ext cx="4754880" cy="685800"/>
          </a:xfrm>
          <a:prstGeom prst="rect">
            <a:avLst/>
          </a:prstGeom>
          <a:noFill/>
          <a:ln/>
        </p:spPr>
        <p:txBody>
          <a:bodyPr wrap="square" rtlCol="0" anchor="ctr"/>
          <a:lstStyle/>
          <a:p>
            <a:pPr indent="0" marL="0">
              <a:lnSpc>
                <a:spcPct val="110000"/>
              </a:lnSpc>
              <a:buNone/>
            </a:pPr>
            <a:r>
              <a:rPr lang="en-US" sz="1300" dirty="0">
                <a:solidFill>
                  <a:srgbClr val="FFFFFF"/>
                </a:solidFill>
                <a:latin typeface="Calibri" pitchFamily="34" charset="0"/>
                <a:ea typeface="Calibri" pitchFamily="34" charset="-122"/>
                <a:cs typeface="Calibri" pitchFamily="34" charset="-120"/>
              </a:rPr>
              <a:t>Se marcaron como faltantes los valores imposibles de PM2.5 (&lt; 0 o &gt; 500).</a:t>
            </a:r>
            <a:endParaRPr lang="en-US" sz="1300" dirty="0"/>
          </a:p>
        </p:txBody>
      </p:sp>
      <p:sp>
        <p:nvSpPr>
          <p:cNvPr id="19" name="Shape 17"/>
          <p:cNvSpPr/>
          <p:nvPr/>
        </p:nvSpPr>
        <p:spPr>
          <a:xfrm>
            <a:off x="6172200" y="2578608"/>
            <a:ext cx="457200" cy="457200"/>
          </a:xfrm>
          <a:prstGeom prst="ellipse">
            <a:avLst/>
          </a:prstGeom>
          <a:solidFill>
            <a:srgbClr val="E9A23B"/>
          </a:solidFill>
          <a:ln/>
        </p:spPr>
      </p:sp>
      <p:sp>
        <p:nvSpPr>
          <p:cNvPr id="20" name="Text 18"/>
          <p:cNvSpPr/>
          <p:nvPr/>
        </p:nvSpPr>
        <p:spPr>
          <a:xfrm>
            <a:off x="6172200" y="2578608"/>
            <a:ext cx="457200" cy="457200"/>
          </a:xfrm>
          <a:prstGeom prst="rect">
            <a:avLst/>
          </a:prstGeom>
          <a:noFill/>
          <a:ln/>
        </p:spPr>
        <p:txBody>
          <a:bodyPr wrap="square" rtlCol="0" anchor="ctr"/>
          <a:lstStyle/>
          <a:p>
            <a:pPr algn="ctr" indent="0" marL="0">
              <a:buNone/>
            </a:pPr>
            <a:r>
              <a:rPr lang="en-US" sz="1500" b="1" dirty="0">
                <a:solidFill>
                  <a:srgbClr val="23262B"/>
                </a:solidFill>
                <a:latin typeface="Cambria" pitchFamily="34" charset="0"/>
                <a:ea typeface="Cambria" pitchFamily="34" charset="-122"/>
                <a:cs typeface="Cambria" pitchFamily="34" charset="-120"/>
              </a:rPr>
              <a:t>6</a:t>
            </a:r>
            <a:endParaRPr lang="en-US" sz="1500" dirty="0"/>
          </a:p>
        </p:txBody>
      </p:sp>
      <p:sp>
        <p:nvSpPr>
          <p:cNvPr id="21" name="Text 19"/>
          <p:cNvSpPr/>
          <p:nvPr/>
        </p:nvSpPr>
        <p:spPr>
          <a:xfrm>
            <a:off x="6766560" y="2505456"/>
            <a:ext cx="4754880" cy="685800"/>
          </a:xfrm>
          <a:prstGeom prst="rect">
            <a:avLst/>
          </a:prstGeom>
          <a:noFill/>
          <a:ln/>
        </p:spPr>
        <p:txBody>
          <a:bodyPr wrap="square" rtlCol="0" anchor="ctr"/>
          <a:lstStyle/>
          <a:p>
            <a:pPr indent="0" marL="0">
              <a:lnSpc>
                <a:spcPct val="110000"/>
              </a:lnSpc>
              <a:buNone/>
            </a:pPr>
            <a:r>
              <a:rPr lang="en-US" sz="1300" dirty="0">
                <a:solidFill>
                  <a:srgbClr val="FFFFFF"/>
                </a:solidFill>
                <a:latin typeface="Calibri" pitchFamily="34" charset="0"/>
                <a:ea typeface="Calibri" pitchFamily="34" charset="-122"/>
                <a:cs typeface="Calibri" pitchFamily="34" charset="-120"/>
              </a:rPr>
              <a:t>Se eliminaron filas sin fecha o sin PM2.5 válido.</a:t>
            </a:r>
            <a:endParaRPr lang="en-US" sz="1300" dirty="0"/>
          </a:p>
        </p:txBody>
      </p:sp>
      <p:sp>
        <p:nvSpPr>
          <p:cNvPr id="22" name="Shape 20"/>
          <p:cNvSpPr/>
          <p:nvPr/>
        </p:nvSpPr>
        <p:spPr>
          <a:xfrm>
            <a:off x="6172200" y="3328416"/>
            <a:ext cx="457200" cy="457200"/>
          </a:xfrm>
          <a:prstGeom prst="ellipse">
            <a:avLst/>
          </a:prstGeom>
          <a:solidFill>
            <a:srgbClr val="E9A23B"/>
          </a:solidFill>
          <a:ln/>
        </p:spPr>
      </p:sp>
      <p:sp>
        <p:nvSpPr>
          <p:cNvPr id="23" name="Text 21"/>
          <p:cNvSpPr/>
          <p:nvPr/>
        </p:nvSpPr>
        <p:spPr>
          <a:xfrm>
            <a:off x="6172200" y="3328416"/>
            <a:ext cx="457200" cy="457200"/>
          </a:xfrm>
          <a:prstGeom prst="rect">
            <a:avLst/>
          </a:prstGeom>
          <a:noFill/>
          <a:ln/>
        </p:spPr>
        <p:txBody>
          <a:bodyPr wrap="square" rtlCol="0" anchor="ctr"/>
          <a:lstStyle/>
          <a:p>
            <a:pPr algn="ctr" indent="0" marL="0">
              <a:buNone/>
            </a:pPr>
            <a:r>
              <a:rPr lang="en-US" sz="1500" b="1" dirty="0">
                <a:solidFill>
                  <a:srgbClr val="23262B"/>
                </a:solidFill>
                <a:latin typeface="Cambria" pitchFamily="34" charset="0"/>
                <a:ea typeface="Cambria" pitchFamily="34" charset="-122"/>
                <a:cs typeface="Cambria" pitchFamily="34" charset="-120"/>
              </a:rPr>
              <a:t>7</a:t>
            </a:r>
            <a:endParaRPr lang="en-US" sz="1500" dirty="0"/>
          </a:p>
        </p:txBody>
      </p:sp>
      <p:sp>
        <p:nvSpPr>
          <p:cNvPr id="24" name="Text 22"/>
          <p:cNvSpPr/>
          <p:nvPr/>
        </p:nvSpPr>
        <p:spPr>
          <a:xfrm>
            <a:off x="6766560" y="3255264"/>
            <a:ext cx="4754880" cy="685800"/>
          </a:xfrm>
          <a:prstGeom prst="rect">
            <a:avLst/>
          </a:prstGeom>
          <a:noFill/>
          <a:ln/>
        </p:spPr>
        <p:txBody>
          <a:bodyPr wrap="square" rtlCol="0" anchor="ctr"/>
          <a:lstStyle/>
          <a:p>
            <a:pPr indent="0" marL="0">
              <a:lnSpc>
                <a:spcPct val="110000"/>
              </a:lnSpc>
              <a:buNone/>
            </a:pPr>
            <a:r>
              <a:rPr lang="en-US" sz="1300" dirty="0">
                <a:solidFill>
                  <a:srgbClr val="FFFFFF"/>
                </a:solidFill>
                <a:latin typeface="Calibri" pitchFamily="34" charset="0"/>
                <a:ea typeface="Calibri" pitchFamily="34" charset="-122"/>
                <a:cs typeface="Calibri" pitchFamily="34" charset="-120"/>
              </a:rPr>
              <a:t>Se creó la variable “nivel de riesgo” según las guías diarias de la OMS.</a:t>
            </a:r>
            <a:endParaRPr lang="en-US" sz="1300" dirty="0"/>
          </a:p>
        </p:txBody>
      </p:sp>
      <p:sp>
        <p:nvSpPr>
          <p:cNvPr id="25" name="Text 23"/>
          <p:cNvSpPr/>
          <p:nvPr/>
        </p:nvSpPr>
        <p:spPr>
          <a:xfrm>
            <a:off x="11475720" y="6473952"/>
            <a:ext cx="548640" cy="274320"/>
          </a:xfrm>
          <a:prstGeom prst="rect">
            <a:avLst/>
          </a:prstGeom>
          <a:noFill/>
          <a:ln/>
        </p:spPr>
        <p:txBody>
          <a:bodyPr wrap="square" rtlCol="0" anchor="ctr"/>
          <a:lstStyle/>
          <a:p>
            <a:pPr algn="r" indent="0" marL="0">
              <a:buNone/>
            </a:pPr>
            <a:r>
              <a:rPr lang="en-US" sz="1000" dirty="0">
                <a:solidFill>
                  <a:srgbClr val="9AA0A8"/>
                </a:solidFill>
                <a:latin typeface="Calibri" pitchFamily="34" charset="0"/>
                <a:ea typeface="Calibri" pitchFamily="34" charset="-122"/>
                <a:cs typeface="Calibri" pitchFamily="34" charset="-120"/>
              </a:rPr>
              <a:t>06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5F2"/>
        </a:solidFill>
      </p:bgPr>
    </p:bg>
    <p:spTree>
      <p:nvGrpSpPr>
        <p:cNvPr id="1" name=""/>
        <p:cNvGrpSpPr/>
        <p:nvPr/>
      </p:nvGrpSpPr>
      <p:grpSpPr>
        <a:xfrm>
          <a:off x="0" y="0"/>
          <a:ext cx="0" cy="0"/>
          <a:chOff x="0" y="0"/>
          <a:chExt cx="0" cy="0"/>
        </a:xfrm>
      </p:grpSpPr>
      <p:sp>
        <p:nvSpPr>
          <p:cNvPr id="2" name="Text 0"/>
          <p:cNvSpPr/>
          <p:nvPr/>
        </p:nvSpPr>
        <p:spPr>
          <a:xfrm>
            <a:off x="548640" y="457200"/>
            <a:ext cx="7315200" cy="320040"/>
          </a:xfrm>
          <a:prstGeom prst="rect">
            <a:avLst/>
          </a:prstGeom>
          <a:noFill/>
          <a:ln/>
        </p:spPr>
        <p:txBody>
          <a:bodyPr wrap="square" rtlCol="0" anchor="ctr"/>
          <a:lstStyle/>
          <a:p>
            <a:pPr indent="0" marL="0">
              <a:buNone/>
            </a:pPr>
            <a:r>
              <a:rPr lang="en-US" sz="1300" b="1" spc="200" kern="0" dirty="0">
                <a:solidFill>
                  <a:srgbClr val="E9A23B"/>
                </a:solidFill>
                <a:latin typeface="Calibri" pitchFamily="34" charset="0"/>
                <a:ea typeface="Calibri" pitchFamily="34" charset="-122"/>
                <a:cs typeface="Calibri" pitchFamily="34" charset="-120"/>
              </a:rPr>
              <a:t>PREPARACIÓN DE DATOS</a:t>
            </a:r>
            <a:endParaRPr lang="en-US" sz="1300" dirty="0"/>
          </a:p>
        </p:txBody>
      </p:sp>
      <p:sp>
        <p:nvSpPr>
          <p:cNvPr id="3" name="Text 1"/>
          <p:cNvSpPr/>
          <p:nvPr/>
        </p:nvSpPr>
        <p:spPr>
          <a:xfrm>
            <a:off x="548640" y="777240"/>
            <a:ext cx="10515600" cy="822960"/>
          </a:xfrm>
          <a:prstGeom prst="rect">
            <a:avLst/>
          </a:prstGeom>
          <a:noFill/>
          <a:ln/>
        </p:spPr>
        <p:txBody>
          <a:bodyPr wrap="square" rtlCol="0" anchor="ctr"/>
          <a:lstStyle/>
          <a:p>
            <a:pPr algn="l" indent="0" marL="0">
              <a:buNone/>
            </a:pPr>
            <a:r>
              <a:rPr lang="en-US" sz="3200" b="1" dirty="0">
                <a:solidFill>
                  <a:srgbClr val="23262B"/>
                </a:solidFill>
                <a:latin typeface="Cambria" pitchFamily="34" charset="0"/>
                <a:ea typeface="Cambria" pitchFamily="34" charset="-122"/>
                <a:cs typeface="Cambria" pitchFamily="34" charset="-120"/>
              </a:rPr>
              <a:t>Qué cambió la limpieza</a:t>
            </a:r>
            <a:endParaRPr lang="en-US" sz="3200" dirty="0"/>
          </a:p>
        </p:txBody>
      </p:sp>
      <p:sp>
        <p:nvSpPr>
          <p:cNvPr id="4" name="Shape 2"/>
          <p:cNvSpPr/>
          <p:nvPr/>
        </p:nvSpPr>
        <p:spPr>
          <a:xfrm>
            <a:off x="548640" y="1828800"/>
            <a:ext cx="3474720" cy="1920240"/>
          </a:xfrm>
          <a:prstGeom prst="rect">
            <a:avLst/>
          </a:prstGeom>
          <a:solidFill>
            <a:srgbClr val="FFFFFF"/>
          </a:solidFill>
          <a:ln w="12700">
            <a:solidFill>
              <a:srgbClr val="E4E0D8"/>
            </a:solidFill>
            <a:prstDash val="solid"/>
          </a:ln>
          <a:effectLst>
            <a:outerShdw sx="100000" sy="100000" kx="0" ky="0" algn="bl" rotWithShape="0" blurRad="76200" dist="25400" dir="5400000">
              <a:srgbClr val="000000">
                <a:alpha val="10000"/>
              </a:srgbClr>
            </a:outerShdw>
          </a:effectLst>
        </p:spPr>
      </p:sp>
      <p:sp>
        <p:nvSpPr>
          <p:cNvPr id="5" name="Text 3"/>
          <p:cNvSpPr/>
          <p:nvPr/>
        </p:nvSpPr>
        <p:spPr>
          <a:xfrm>
            <a:off x="822960" y="2057400"/>
            <a:ext cx="2926080" cy="685800"/>
          </a:xfrm>
          <a:prstGeom prst="rect">
            <a:avLst/>
          </a:prstGeom>
          <a:noFill/>
          <a:ln/>
        </p:spPr>
        <p:txBody>
          <a:bodyPr wrap="square" rtlCol="0" anchor="ctr"/>
          <a:lstStyle/>
          <a:p>
            <a:pPr indent="0" marL="0">
              <a:buNone/>
            </a:pPr>
            <a:r>
              <a:rPr lang="en-US" sz="2800" b="1" dirty="0">
                <a:solidFill>
                  <a:srgbClr val="E9A23B"/>
                </a:solidFill>
                <a:latin typeface="Cambria" pitchFamily="34" charset="0"/>
                <a:ea typeface="Cambria" pitchFamily="34" charset="-122"/>
                <a:cs typeface="Cambria" pitchFamily="34" charset="-120"/>
              </a:rPr>
              <a:t>27 → 27</a:t>
            </a:r>
            <a:endParaRPr lang="en-US" sz="2800" dirty="0"/>
          </a:p>
        </p:txBody>
      </p:sp>
      <p:sp>
        <p:nvSpPr>
          <p:cNvPr id="6" name="Text 4"/>
          <p:cNvSpPr/>
          <p:nvPr/>
        </p:nvSpPr>
        <p:spPr>
          <a:xfrm>
            <a:off x="822960" y="2788920"/>
            <a:ext cx="3017520" cy="822960"/>
          </a:xfrm>
          <a:prstGeom prst="rect">
            <a:avLst/>
          </a:prstGeom>
          <a:noFill/>
          <a:ln/>
        </p:spPr>
        <p:txBody>
          <a:bodyPr wrap="square" rtlCol="0" anchor="ctr"/>
          <a:lstStyle/>
          <a:p>
            <a:pPr indent="0" marL="0">
              <a:lnSpc>
                <a:spcPct val="115000"/>
              </a:lnSpc>
              <a:buNone/>
            </a:pPr>
            <a:r>
              <a:rPr lang="en-US" sz="1250" dirty="0">
                <a:solidFill>
                  <a:srgbClr val="6B7078"/>
                </a:solidFill>
                <a:latin typeface="Calibri" pitchFamily="34" charset="0"/>
                <a:ea typeface="Calibri" pitchFamily="34" charset="-122"/>
                <a:cs typeface="Calibri" pitchFamily="34" charset="-120"/>
              </a:rPr>
              <a:t>estaciones, ahora</a:t>
            </a:r>
            <a:endParaRPr lang="en-US" sz="1250" dirty="0"/>
          </a:p>
          <a:p>
            <a:pPr indent="0" marL="0">
              <a:lnSpc>
                <a:spcPct val="115000"/>
              </a:lnSpc>
              <a:buNone/>
            </a:pPr>
            <a:r>
              <a:rPr lang="en-US" sz="1250" dirty="0">
                <a:solidFill>
                  <a:srgbClr val="6B7078"/>
                </a:solidFill>
                <a:latin typeface="Calibri" pitchFamily="34" charset="0"/>
                <a:ea typeface="Calibri" pitchFamily="34" charset="-122"/>
                <a:cs typeface="Calibri" pitchFamily="34" charset="-120"/>
              </a:rPr>
              <a:t>con nombres unificados</a:t>
            </a:r>
            <a:endParaRPr lang="en-US" sz="1250" dirty="0"/>
          </a:p>
        </p:txBody>
      </p:sp>
      <p:sp>
        <p:nvSpPr>
          <p:cNvPr id="7" name="Shape 5"/>
          <p:cNvSpPr/>
          <p:nvPr/>
        </p:nvSpPr>
        <p:spPr>
          <a:xfrm>
            <a:off x="4251960" y="1828800"/>
            <a:ext cx="3474720" cy="1920240"/>
          </a:xfrm>
          <a:prstGeom prst="rect">
            <a:avLst/>
          </a:prstGeom>
          <a:solidFill>
            <a:srgbClr val="FFFFFF"/>
          </a:solidFill>
          <a:ln w="12700">
            <a:solidFill>
              <a:srgbClr val="E4E0D8"/>
            </a:solidFill>
            <a:prstDash val="solid"/>
          </a:ln>
          <a:effectLst>
            <a:outerShdw sx="100000" sy="100000" kx="0" ky="0" algn="bl" rotWithShape="0" blurRad="76200" dist="25400" dir="5400000">
              <a:srgbClr val="000000">
                <a:alpha val="10000"/>
              </a:srgbClr>
            </a:outerShdw>
          </a:effectLst>
        </p:spPr>
      </p:sp>
      <p:sp>
        <p:nvSpPr>
          <p:cNvPr id="8" name="Text 6"/>
          <p:cNvSpPr/>
          <p:nvPr/>
        </p:nvSpPr>
        <p:spPr>
          <a:xfrm>
            <a:off x="4526280" y="2057400"/>
            <a:ext cx="2926080" cy="685800"/>
          </a:xfrm>
          <a:prstGeom prst="rect">
            <a:avLst/>
          </a:prstGeom>
          <a:noFill/>
          <a:ln/>
        </p:spPr>
        <p:txBody>
          <a:bodyPr wrap="square" rtlCol="0" anchor="ctr"/>
          <a:lstStyle/>
          <a:p>
            <a:pPr indent="0" marL="0">
              <a:buNone/>
            </a:pPr>
            <a:r>
              <a:rPr lang="en-US" sz="2800" b="1" dirty="0">
                <a:solidFill>
                  <a:srgbClr val="27AE60"/>
                </a:solidFill>
                <a:latin typeface="Cambria" pitchFamily="34" charset="0"/>
                <a:ea typeface="Cambria" pitchFamily="34" charset="-122"/>
                <a:cs typeface="Cambria" pitchFamily="34" charset="-120"/>
              </a:rPr>
              <a:t>0</a:t>
            </a:r>
            <a:endParaRPr lang="en-US" sz="2800" dirty="0"/>
          </a:p>
        </p:txBody>
      </p:sp>
      <p:sp>
        <p:nvSpPr>
          <p:cNvPr id="9" name="Text 7"/>
          <p:cNvSpPr/>
          <p:nvPr/>
        </p:nvSpPr>
        <p:spPr>
          <a:xfrm>
            <a:off x="4526280" y="2788920"/>
            <a:ext cx="3017520" cy="822960"/>
          </a:xfrm>
          <a:prstGeom prst="rect">
            <a:avLst/>
          </a:prstGeom>
          <a:noFill/>
          <a:ln/>
        </p:spPr>
        <p:txBody>
          <a:bodyPr wrap="square" rtlCol="0" anchor="ctr"/>
          <a:lstStyle/>
          <a:p>
            <a:pPr indent="0" marL="0">
              <a:lnSpc>
                <a:spcPct val="115000"/>
              </a:lnSpc>
              <a:buNone/>
            </a:pPr>
            <a:r>
              <a:rPr lang="en-US" sz="1250" dirty="0">
                <a:solidFill>
                  <a:srgbClr val="6B7078"/>
                </a:solidFill>
                <a:latin typeface="Calibri" pitchFamily="34" charset="0"/>
                <a:ea typeface="Calibri" pitchFamily="34" charset="-122"/>
                <a:cs typeface="Calibri" pitchFamily="34" charset="-120"/>
              </a:rPr>
              <a:t>filas duplicadas</a:t>
            </a:r>
            <a:endParaRPr lang="en-US" sz="1250" dirty="0"/>
          </a:p>
          <a:p>
            <a:pPr indent="0" marL="0">
              <a:lnSpc>
                <a:spcPct val="115000"/>
              </a:lnSpc>
              <a:buNone/>
            </a:pPr>
            <a:r>
              <a:rPr lang="en-US" sz="1250" dirty="0">
                <a:solidFill>
                  <a:srgbClr val="6B7078"/>
                </a:solidFill>
                <a:latin typeface="Calibri" pitchFamily="34" charset="0"/>
                <a:ea typeface="Calibri" pitchFamily="34" charset="-122"/>
                <a:cs typeface="Calibri" pitchFamily="34" charset="-120"/>
              </a:rPr>
              <a:t>encontradas</a:t>
            </a:r>
            <a:endParaRPr lang="en-US" sz="1250" dirty="0"/>
          </a:p>
        </p:txBody>
      </p:sp>
      <p:sp>
        <p:nvSpPr>
          <p:cNvPr id="10" name="Shape 8"/>
          <p:cNvSpPr/>
          <p:nvPr/>
        </p:nvSpPr>
        <p:spPr>
          <a:xfrm>
            <a:off x="7955280" y="1828800"/>
            <a:ext cx="3474720" cy="1920240"/>
          </a:xfrm>
          <a:prstGeom prst="rect">
            <a:avLst/>
          </a:prstGeom>
          <a:solidFill>
            <a:srgbClr val="FFFFFF"/>
          </a:solidFill>
          <a:ln w="12700">
            <a:solidFill>
              <a:srgbClr val="E4E0D8"/>
            </a:solidFill>
            <a:prstDash val="solid"/>
          </a:ln>
          <a:effectLst>
            <a:outerShdw sx="100000" sy="100000" kx="0" ky="0" algn="bl" rotWithShape="0" blurRad="76200" dist="25400" dir="5400000">
              <a:srgbClr val="000000">
                <a:alpha val="10000"/>
              </a:srgbClr>
            </a:outerShdw>
          </a:effectLst>
        </p:spPr>
      </p:sp>
      <p:sp>
        <p:nvSpPr>
          <p:cNvPr id="11" name="Text 9"/>
          <p:cNvSpPr/>
          <p:nvPr/>
        </p:nvSpPr>
        <p:spPr>
          <a:xfrm>
            <a:off x="8229600" y="2057400"/>
            <a:ext cx="2926080" cy="685800"/>
          </a:xfrm>
          <a:prstGeom prst="rect">
            <a:avLst/>
          </a:prstGeom>
          <a:noFill/>
          <a:ln/>
        </p:spPr>
        <p:txBody>
          <a:bodyPr wrap="square" rtlCol="0" anchor="ctr"/>
          <a:lstStyle/>
          <a:p>
            <a:pPr indent="0" marL="0">
              <a:buNone/>
            </a:pPr>
            <a:r>
              <a:rPr lang="en-US" sz="2800" b="1" dirty="0">
                <a:solidFill>
                  <a:srgbClr val="C0392B"/>
                </a:solidFill>
                <a:latin typeface="Cambria" pitchFamily="34" charset="0"/>
                <a:ea typeface="Cambria" pitchFamily="34" charset="-122"/>
                <a:cs typeface="Cambria" pitchFamily="34" charset="-120"/>
              </a:rPr>
              <a:t>1</a:t>
            </a:r>
            <a:endParaRPr lang="en-US" sz="2800" dirty="0"/>
          </a:p>
        </p:txBody>
      </p:sp>
      <p:sp>
        <p:nvSpPr>
          <p:cNvPr id="12" name="Text 10"/>
          <p:cNvSpPr/>
          <p:nvPr/>
        </p:nvSpPr>
        <p:spPr>
          <a:xfrm>
            <a:off x="8229600" y="2788920"/>
            <a:ext cx="3017520" cy="822960"/>
          </a:xfrm>
          <a:prstGeom prst="rect">
            <a:avLst/>
          </a:prstGeom>
          <a:noFill/>
          <a:ln/>
        </p:spPr>
        <p:txBody>
          <a:bodyPr wrap="square" rtlCol="0" anchor="ctr"/>
          <a:lstStyle/>
          <a:p>
            <a:pPr indent="0" marL="0">
              <a:lnSpc>
                <a:spcPct val="115000"/>
              </a:lnSpc>
              <a:buNone/>
            </a:pPr>
            <a:r>
              <a:rPr lang="en-US" sz="1250" dirty="0">
                <a:solidFill>
                  <a:srgbClr val="6B7078"/>
                </a:solidFill>
                <a:latin typeface="Calibri" pitchFamily="34" charset="0"/>
                <a:ea typeface="Calibri" pitchFamily="34" charset="-122"/>
                <a:cs typeface="Calibri" pitchFamily="34" charset="-120"/>
              </a:rPr>
              <a:t>columna vacía eliminada</a:t>
            </a:r>
            <a:endParaRPr lang="en-US" sz="1250" dirty="0"/>
          </a:p>
          <a:p>
            <a:pPr indent="0" marL="0">
              <a:lnSpc>
                <a:spcPct val="115000"/>
              </a:lnSpc>
              <a:buNone/>
            </a:pPr>
            <a:r>
              <a:rPr lang="en-US" sz="1250" dirty="0">
                <a:solidFill>
                  <a:srgbClr val="6B7078"/>
                </a:solidFill>
                <a:latin typeface="Calibri" pitchFamily="34" charset="0"/>
                <a:ea typeface="Calibri" pitchFamily="34" charset="-122"/>
                <a:cs typeface="Calibri" pitchFamily="34" charset="-120"/>
              </a:rPr>
              <a:t>(fecha_final)</a:t>
            </a:r>
            <a:endParaRPr lang="en-US" sz="1250" dirty="0"/>
          </a:p>
        </p:txBody>
      </p:sp>
      <p:sp>
        <p:nvSpPr>
          <p:cNvPr id="13" name="Shape 11"/>
          <p:cNvSpPr/>
          <p:nvPr/>
        </p:nvSpPr>
        <p:spPr>
          <a:xfrm>
            <a:off x="548640" y="3977640"/>
            <a:ext cx="3474720" cy="1920240"/>
          </a:xfrm>
          <a:prstGeom prst="rect">
            <a:avLst/>
          </a:prstGeom>
          <a:solidFill>
            <a:srgbClr val="FFFFFF"/>
          </a:solidFill>
          <a:ln w="12700">
            <a:solidFill>
              <a:srgbClr val="E4E0D8"/>
            </a:solidFill>
            <a:prstDash val="solid"/>
          </a:ln>
          <a:effectLst>
            <a:outerShdw sx="100000" sy="100000" kx="0" ky="0" algn="bl" rotWithShape="0" blurRad="76200" dist="25400" dir="5400000">
              <a:srgbClr val="000000">
                <a:alpha val="10000"/>
              </a:srgbClr>
            </a:outerShdw>
          </a:effectLst>
        </p:spPr>
      </p:sp>
      <p:sp>
        <p:nvSpPr>
          <p:cNvPr id="14" name="Text 12"/>
          <p:cNvSpPr/>
          <p:nvPr/>
        </p:nvSpPr>
        <p:spPr>
          <a:xfrm>
            <a:off x="822960" y="4206240"/>
            <a:ext cx="2926080" cy="685800"/>
          </a:xfrm>
          <a:prstGeom prst="rect">
            <a:avLst/>
          </a:prstGeom>
          <a:noFill/>
          <a:ln/>
        </p:spPr>
        <p:txBody>
          <a:bodyPr wrap="square" rtlCol="0" anchor="ctr"/>
          <a:lstStyle/>
          <a:p>
            <a:pPr indent="0" marL="0">
              <a:buNone/>
            </a:pPr>
            <a:r>
              <a:rPr lang="en-US" sz="2800" b="1" dirty="0">
                <a:solidFill>
                  <a:srgbClr val="E9A23B"/>
                </a:solidFill>
                <a:latin typeface="Cambria" pitchFamily="34" charset="0"/>
                <a:ea typeface="Cambria" pitchFamily="34" charset="-122"/>
                <a:cs typeface="Cambria" pitchFamily="34" charset="-120"/>
              </a:rPr>
              <a:t>6</a:t>
            </a:r>
            <a:endParaRPr lang="en-US" sz="2800" dirty="0"/>
          </a:p>
        </p:txBody>
      </p:sp>
      <p:sp>
        <p:nvSpPr>
          <p:cNvPr id="15" name="Text 13"/>
          <p:cNvSpPr/>
          <p:nvPr/>
        </p:nvSpPr>
        <p:spPr>
          <a:xfrm>
            <a:off x="822960" y="4937760"/>
            <a:ext cx="3017520" cy="822960"/>
          </a:xfrm>
          <a:prstGeom prst="rect">
            <a:avLst/>
          </a:prstGeom>
          <a:noFill/>
          <a:ln/>
        </p:spPr>
        <p:txBody>
          <a:bodyPr wrap="square" rtlCol="0" anchor="ctr"/>
          <a:lstStyle/>
          <a:p>
            <a:pPr indent="0" marL="0">
              <a:lnSpc>
                <a:spcPct val="115000"/>
              </a:lnSpc>
              <a:buNone/>
            </a:pPr>
            <a:r>
              <a:rPr lang="en-US" sz="1250" dirty="0">
                <a:solidFill>
                  <a:srgbClr val="6B7078"/>
                </a:solidFill>
                <a:latin typeface="Calibri" pitchFamily="34" charset="0"/>
                <a:ea typeface="Calibri" pitchFamily="34" charset="-122"/>
                <a:cs typeface="Calibri" pitchFamily="34" charset="-120"/>
              </a:rPr>
              <a:t>columnas nuevas creadas</a:t>
            </a:r>
            <a:endParaRPr lang="en-US" sz="1250" dirty="0"/>
          </a:p>
          <a:p>
            <a:pPr indent="0" marL="0">
              <a:lnSpc>
                <a:spcPct val="115000"/>
              </a:lnSpc>
              <a:buNone/>
            </a:pPr>
            <a:r>
              <a:rPr lang="en-US" sz="1250" dirty="0">
                <a:solidFill>
                  <a:srgbClr val="6B7078"/>
                </a:solidFill>
                <a:latin typeface="Calibri" pitchFamily="34" charset="0"/>
                <a:ea typeface="Calibri" pitchFamily="34" charset="-122"/>
                <a:cs typeface="Calibri" pitchFamily="34" charset="-120"/>
              </a:rPr>
              <a:t>(mes, día, nivel de riesgo…)</a:t>
            </a:r>
            <a:endParaRPr lang="en-US" sz="1250" dirty="0"/>
          </a:p>
        </p:txBody>
      </p:sp>
      <p:sp>
        <p:nvSpPr>
          <p:cNvPr id="16" name="Shape 14"/>
          <p:cNvSpPr/>
          <p:nvPr/>
        </p:nvSpPr>
        <p:spPr>
          <a:xfrm>
            <a:off x="4251960" y="3977640"/>
            <a:ext cx="3474720" cy="1920240"/>
          </a:xfrm>
          <a:prstGeom prst="rect">
            <a:avLst/>
          </a:prstGeom>
          <a:solidFill>
            <a:srgbClr val="FFFFFF"/>
          </a:solidFill>
          <a:ln w="12700">
            <a:solidFill>
              <a:srgbClr val="E4E0D8"/>
            </a:solidFill>
            <a:prstDash val="solid"/>
          </a:ln>
          <a:effectLst>
            <a:outerShdw sx="100000" sy="100000" kx="0" ky="0" algn="bl" rotWithShape="0" blurRad="76200" dist="25400" dir="5400000">
              <a:srgbClr val="000000">
                <a:alpha val="10000"/>
              </a:srgbClr>
            </a:outerShdw>
          </a:effectLst>
        </p:spPr>
      </p:sp>
      <p:sp>
        <p:nvSpPr>
          <p:cNvPr id="17" name="Text 15"/>
          <p:cNvSpPr/>
          <p:nvPr/>
        </p:nvSpPr>
        <p:spPr>
          <a:xfrm>
            <a:off x="4526280" y="4206240"/>
            <a:ext cx="2926080" cy="685800"/>
          </a:xfrm>
          <a:prstGeom prst="rect">
            <a:avLst/>
          </a:prstGeom>
          <a:noFill/>
          <a:ln/>
        </p:spPr>
        <p:txBody>
          <a:bodyPr wrap="square" rtlCol="0" anchor="ctr"/>
          <a:lstStyle/>
          <a:p>
            <a:pPr indent="0" marL="0">
              <a:buNone/>
            </a:pPr>
            <a:r>
              <a:rPr lang="en-US" sz="2800" b="1" dirty="0">
                <a:solidFill>
                  <a:srgbClr val="27AE60"/>
                </a:solidFill>
                <a:latin typeface="Cambria" pitchFamily="34" charset="0"/>
                <a:ea typeface="Cambria" pitchFamily="34" charset="-122"/>
                <a:cs typeface="Cambria" pitchFamily="34" charset="-120"/>
              </a:rPr>
              <a:t>0</a:t>
            </a:r>
            <a:endParaRPr lang="en-US" sz="2800" dirty="0"/>
          </a:p>
        </p:txBody>
      </p:sp>
      <p:sp>
        <p:nvSpPr>
          <p:cNvPr id="18" name="Text 16"/>
          <p:cNvSpPr/>
          <p:nvPr/>
        </p:nvSpPr>
        <p:spPr>
          <a:xfrm>
            <a:off x="4526280" y="4937760"/>
            <a:ext cx="3017520" cy="822960"/>
          </a:xfrm>
          <a:prstGeom prst="rect">
            <a:avLst/>
          </a:prstGeom>
          <a:noFill/>
          <a:ln/>
        </p:spPr>
        <p:txBody>
          <a:bodyPr wrap="square" rtlCol="0" anchor="ctr"/>
          <a:lstStyle/>
          <a:p>
            <a:pPr indent="0" marL="0">
              <a:lnSpc>
                <a:spcPct val="115000"/>
              </a:lnSpc>
              <a:buNone/>
            </a:pPr>
            <a:r>
              <a:rPr lang="en-US" sz="1250" dirty="0">
                <a:solidFill>
                  <a:srgbClr val="6B7078"/>
                </a:solidFill>
                <a:latin typeface="Calibri" pitchFamily="34" charset="0"/>
                <a:ea typeface="Calibri" pitchFamily="34" charset="-122"/>
                <a:cs typeface="Calibri" pitchFamily="34" charset="-120"/>
              </a:rPr>
              <a:t>celdas vacías al</a:t>
            </a:r>
            <a:endParaRPr lang="en-US" sz="1250" dirty="0"/>
          </a:p>
          <a:p>
            <a:pPr indent="0" marL="0">
              <a:lnSpc>
                <a:spcPct val="115000"/>
              </a:lnSpc>
              <a:buNone/>
            </a:pPr>
            <a:r>
              <a:rPr lang="en-US" sz="1250" dirty="0">
                <a:solidFill>
                  <a:srgbClr val="6B7078"/>
                </a:solidFill>
                <a:latin typeface="Calibri" pitchFamily="34" charset="0"/>
                <a:ea typeface="Calibri" pitchFamily="34" charset="-122"/>
                <a:cs typeface="Calibri" pitchFamily="34" charset="-120"/>
              </a:rPr>
              <a:t>terminar el proceso</a:t>
            </a:r>
            <a:endParaRPr lang="en-US" sz="1250" dirty="0"/>
          </a:p>
        </p:txBody>
      </p:sp>
      <p:sp>
        <p:nvSpPr>
          <p:cNvPr id="19" name="Shape 17"/>
          <p:cNvSpPr/>
          <p:nvPr/>
        </p:nvSpPr>
        <p:spPr>
          <a:xfrm>
            <a:off x="7955280" y="3977640"/>
            <a:ext cx="3474720" cy="1920240"/>
          </a:xfrm>
          <a:prstGeom prst="rect">
            <a:avLst/>
          </a:prstGeom>
          <a:solidFill>
            <a:srgbClr val="FFFFFF"/>
          </a:solidFill>
          <a:ln w="12700">
            <a:solidFill>
              <a:srgbClr val="E4E0D8"/>
            </a:solidFill>
            <a:prstDash val="solid"/>
          </a:ln>
          <a:effectLst>
            <a:outerShdw sx="100000" sy="100000" kx="0" ky="0" algn="bl" rotWithShape="0" blurRad="76200" dist="25400" dir="5400000">
              <a:srgbClr val="000000">
                <a:alpha val="10000"/>
              </a:srgbClr>
            </a:outerShdw>
          </a:effectLst>
        </p:spPr>
      </p:sp>
      <p:sp>
        <p:nvSpPr>
          <p:cNvPr id="20" name="Text 18"/>
          <p:cNvSpPr/>
          <p:nvPr/>
        </p:nvSpPr>
        <p:spPr>
          <a:xfrm>
            <a:off x="8229600" y="4206240"/>
            <a:ext cx="2926080" cy="685800"/>
          </a:xfrm>
          <a:prstGeom prst="rect">
            <a:avLst/>
          </a:prstGeom>
          <a:noFill/>
          <a:ln/>
        </p:spPr>
        <p:txBody>
          <a:bodyPr wrap="square" rtlCol="0" anchor="ctr"/>
          <a:lstStyle/>
          <a:p>
            <a:pPr indent="0" marL="0">
              <a:buNone/>
            </a:pPr>
            <a:r>
              <a:rPr lang="en-US" sz="2800" b="1" dirty="0">
                <a:solidFill>
                  <a:srgbClr val="C0392B"/>
                </a:solidFill>
                <a:latin typeface="Cambria" pitchFamily="34" charset="0"/>
                <a:ea typeface="Cambria" pitchFamily="34" charset="-122"/>
                <a:cs typeface="Cambria" pitchFamily="34" charset="-120"/>
              </a:rPr>
              <a:t>texto → fecha</a:t>
            </a:r>
            <a:endParaRPr lang="en-US" sz="2800" dirty="0"/>
          </a:p>
        </p:txBody>
      </p:sp>
      <p:sp>
        <p:nvSpPr>
          <p:cNvPr id="21" name="Text 19"/>
          <p:cNvSpPr/>
          <p:nvPr/>
        </p:nvSpPr>
        <p:spPr>
          <a:xfrm>
            <a:off x="8229600" y="4937760"/>
            <a:ext cx="3017520" cy="822960"/>
          </a:xfrm>
          <a:prstGeom prst="rect">
            <a:avLst/>
          </a:prstGeom>
          <a:noFill/>
          <a:ln/>
        </p:spPr>
        <p:txBody>
          <a:bodyPr wrap="square" rtlCol="0" anchor="ctr"/>
          <a:lstStyle/>
          <a:p>
            <a:pPr indent="0" marL="0">
              <a:lnSpc>
                <a:spcPct val="115000"/>
              </a:lnSpc>
              <a:buNone/>
            </a:pPr>
            <a:r>
              <a:rPr lang="en-US" sz="1250" dirty="0">
                <a:solidFill>
                  <a:srgbClr val="6B7078"/>
                </a:solidFill>
                <a:latin typeface="Calibri" pitchFamily="34" charset="0"/>
                <a:ea typeface="Calibri" pitchFamily="34" charset="-122"/>
                <a:cs typeface="Calibri" pitchFamily="34" charset="-120"/>
              </a:rPr>
              <a:t>las fechas ya se pueden</a:t>
            </a:r>
            <a:endParaRPr lang="en-US" sz="1250" dirty="0"/>
          </a:p>
          <a:p>
            <a:pPr indent="0" marL="0">
              <a:lnSpc>
                <a:spcPct val="115000"/>
              </a:lnSpc>
              <a:buNone/>
            </a:pPr>
            <a:r>
              <a:rPr lang="en-US" sz="1250" dirty="0">
                <a:solidFill>
                  <a:srgbClr val="6B7078"/>
                </a:solidFill>
                <a:latin typeface="Calibri" pitchFamily="34" charset="0"/>
                <a:ea typeface="Calibri" pitchFamily="34" charset="-122"/>
                <a:cs typeface="Calibri" pitchFamily="34" charset="-120"/>
              </a:rPr>
              <a:t>ordenar y agrupar</a:t>
            </a:r>
            <a:endParaRPr lang="en-US" sz="1250" dirty="0"/>
          </a:p>
        </p:txBody>
      </p:sp>
      <p:sp>
        <p:nvSpPr>
          <p:cNvPr id="22" name="Text 20"/>
          <p:cNvSpPr/>
          <p:nvPr/>
        </p:nvSpPr>
        <p:spPr>
          <a:xfrm>
            <a:off x="11475720" y="6473952"/>
            <a:ext cx="548640" cy="274320"/>
          </a:xfrm>
          <a:prstGeom prst="rect">
            <a:avLst/>
          </a:prstGeom>
          <a:noFill/>
          <a:ln/>
        </p:spPr>
        <p:txBody>
          <a:bodyPr wrap="square" rtlCol="0" anchor="ctr"/>
          <a:lstStyle/>
          <a:p>
            <a:pPr algn="r" indent="0" marL="0">
              <a:buNone/>
            </a:pPr>
            <a:r>
              <a:rPr lang="en-US" sz="1000" dirty="0">
                <a:solidFill>
                  <a:srgbClr val="6B7078"/>
                </a:solidFill>
                <a:latin typeface="Calibri" pitchFamily="34" charset="0"/>
                <a:ea typeface="Calibri" pitchFamily="34" charset="-122"/>
                <a:cs typeface="Calibri" pitchFamily="34" charset="-120"/>
              </a:rPr>
              <a:t>07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5F2"/>
        </a:solidFill>
      </p:bgPr>
    </p:bg>
    <p:spTree>
      <p:nvGrpSpPr>
        <p:cNvPr id="1" name=""/>
        <p:cNvGrpSpPr/>
        <p:nvPr/>
      </p:nvGrpSpPr>
      <p:grpSpPr>
        <a:xfrm>
          <a:off x="0" y="0"/>
          <a:ext cx="0" cy="0"/>
          <a:chOff x="0" y="0"/>
          <a:chExt cx="0" cy="0"/>
        </a:xfrm>
      </p:grpSpPr>
      <p:sp>
        <p:nvSpPr>
          <p:cNvPr id="2" name="Text 0"/>
          <p:cNvSpPr/>
          <p:nvPr/>
        </p:nvSpPr>
        <p:spPr>
          <a:xfrm>
            <a:off x="548640" y="457200"/>
            <a:ext cx="7315200" cy="320040"/>
          </a:xfrm>
          <a:prstGeom prst="rect">
            <a:avLst/>
          </a:prstGeom>
          <a:noFill/>
          <a:ln/>
        </p:spPr>
        <p:txBody>
          <a:bodyPr wrap="square" rtlCol="0" anchor="ctr"/>
          <a:lstStyle/>
          <a:p>
            <a:pPr indent="0" marL="0">
              <a:buNone/>
            </a:pPr>
            <a:r>
              <a:rPr lang="en-US" sz="1300" b="1" spc="200" kern="0" dirty="0">
                <a:solidFill>
                  <a:srgbClr val="E9A23B"/>
                </a:solidFill>
                <a:latin typeface="Calibri" pitchFamily="34" charset="0"/>
                <a:ea typeface="Calibri" pitchFamily="34" charset="-122"/>
                <a:cs typeface="Calibri" pitchFamily="34" charset="-120"/>
              </a:rPr>
              <a:t>ANÁLISIS EXPLORATORIO</a:t>
            </a:r>
            <a:endParaRPr lang="en-US" sz="1300" dirty="0"/>
          </a:p>
        </p:txBody>
      </p:sp>
      <p:sp>
        <p:nvSpPr>
          <p:cNvPr id="3" name="Text 1"/>
          <p:cNvSpPr/>
          <p:nvPr/>
        </p:nvSpPr>
        <p:spPr>
          <a:xfrm>
            <a:off x="548640" y="777240"/>
            <a:ext cx="10972800" cy="822960"/>
          </a:xfrm>
          <a:prstGeom prst="rect">
            <a:avLst/>
          </a:prstGeom>
          <a:noFill/>
          <a:ln/>
        </p:spPr>
        <p:txBody>
          <a:bodyPr wrap="square" rtlCol="0" anchor="ctr"/>
          <a:lstStyle/>
          <a:p>
            <a:pPr algn="l" indent="0" marL="0">
              <a:buNone/>
            </a:pPr>
            <a:r>
              <a:rPr lang="en-US" sz="2600" b="1" dirty="0">
                <a:solidFill>
                  <a:srgbClr val="23262B"/>
                </a:solidFill>
                <a:latin typeface="Cambria" pitchFamily="34" charset="0"/>
                <a:ea typeface="Cambria" pitchFamily="34" charset="-122"/>
                <a:cs typeface="Cambria" pitchFamily="34" charset="-120"/>
              </a:rPr>
              <a:t>Más de la mitad de los días superan el límite de la OMS</a:t>
            </a:r>
            <a:endParaRPr lang="en-US" sz="2600" dirty="0"/>
          </a:p>
        </p:txBody>
      </p:sp>
      <p:sp>
        <p:nvSpPr>
          <p:cNvPr id="4" name="Shape 2"/>
          <p:cNvSpPr/>
          <p:nvPr/>
        </p:nvSpPr>
        <p:spPr>
          <a:xfrm>
            <a:off x="548640" y="1874520"/>
            <a:ext cx="3291840" cy="4206240"/>
          </a:xfrm>
          <a:prstGeom prst="rect">
            <a:avLst/>
          </a:prstGeom>
          <a:solidFill>
            <a:srgbClr val="23262B"/>
          </a:solidFill>
          <a:ln/>
        </p:spPr>
      </p:sp>
      <p:sp>
        <p:nvSpPr>
          <p:cNvPr id="5" name="Text 3"/>
          <p:cNvSpPr/>
          <p:nvPr/>
        </p:nvSpPr>
        <p:spPr>
          <a:xfrm>
            <a:off x="749808" y="2148840"/>
            <a:ext cx="2926080" cy="1005840"/>
          </a:xfrm>
          <a:prstGeom prst="rect">
            <a:avLst/>
          </a:prstGeom>
          <a:noFill/>
          <a:ln/>
        </p:spPr>
        <p:txBody>
          <a:bodyPr wrap="square" rtlCol="0" anchor="ctr"/>
          <a:lstStyle/>
          <a:p>
            <a:pPr indent="0" marL="0">
              <a:buNone/>
            </a:pPr>
            <a:r>
              <a:rPr lang="en-US" sz="4400" b="1" dirty="0">
                <a:solidFill>
                  <a:srgbClr val="C0392B"/>
                </a:solidFill>
                <a:latin typeface="Cambria" pitchFamily="34" charset="0"/>
                <a:ea typeface="Cambria" pitchFamily="34" charset="-122"/>
                <a:cs typeface="Cambria" pitchFamily="34" charset="-120"/>
              </a:rPr>
              <a:t>53.6%</a:t>
            </a:r>
            <a:endParaRPr lang="en-US" sz="4400" dirty="0"/>
          </a:p>
        </p:txBody>
      </p:sp>
      <p:sp>
        <p:nvSpPr>
          <p:cNvPr id="6" name="Text 4"/>
          <p:cNvSpPr/>
          <p:nvPr/>
        </p:nvSpPr>
        <p:spPr>
          <a:xfrm>
            <a:off x="749808" y="3063240"/>
            <a:ext cx="2926080" cy="1005840"/>
          </a:xfrm>
          <a:prstGeom prst="rect">
            <a:avLst/>
          </a:prstGeom>
          <a:noFill/>
          <a:ln/>
        </p:spPr>
        <p:txBody>
          <a:bodyPr wrap="square" rtlCol="0" anchor="ctr"/>
          <a:lstStyle/>
          <a:p>
            <a:pPr indent="0" marL="0">
              <a:lnSpc>
                <a:spcPct val="120000"/>
              </a:lnSpc>
              <a:buNone/>
            </a:pPr>
            <a:r>
              <a:rPr lang="en-US" sz="1300" dirty="0">
                <a:solidFill>
                  <a:srgbClr val="FFFFFF"/>
                </a:solidFill>
                <a:latin typeface="Calibri" pitchFamily="34" charset="0"/>
                <a:ea typeface="Calibri" pitchFamily="34" charset="-122"/>
                <a:cs typeface="Calibri" pitchFamily="34" charset="-120"/>
              </a:rPr>
              <a:t>de los días registrados superan el límite diario seguro de PM2.5 según la OMS (15 µg/m³).</a:t>
            </a:r>
            <a:endParaRPr lang="en-US" sz="1300" dirty="0"/>
          </a:p>
        </p:txBody>
      </p:sp>
      <p:sp>
        <p:nvSpPr>
          <p:cNvPr id="7" name="Shape 5"/>
          <p:cNvSpPr/>
          <p:nvPr/>
        </p:nvSpPr>
        <p:spPr>
          <a:xfrm>
            <a:off x="795528" y="4206240"/>
            <a:ext cx="2834640" cy="0"/>
          </a:xfrm>
          <a:prstGeom prst="line">
            <a:avLst/>
          </a:prstGeom>
          <a:noFill/>
          <a:ln w="12700">
            <a:solidFill>
              <a:srgbClr val="444750"/>
            </a:solidFill>
            <a:prstDash val="solid"/>
          </a:ln>
        </p:spPr>
      </p:sp>
      <p:sp>
        <p:nvSpPr>
          <p:cNvPr id="8" name="Text 6"/>
          <p:cNvSpPr/>
          <p:nvPr/>
        </p:nvSpPr>
        <p:spPr>
          <a:xfrm>
            <a:off x="749808" y="4389120"/>
            <a:ext cx="2926080" cy="548640"/>
          </a:xfrm>
          <a:prstGeom prst="rect">
            <a:avLst/>
          </a:prstGeom>
          <a:noFill/>
          <a:ln/>
        </p:spPr>
        <p:txBody>
          <a:bodyPr wrap="square" rtlCol="0" anchor="ctr"/>
          <a:lstStyle/>
          <a:p>
            <a:pPr indent="0" marL="0">
              <a:buNone/>
            </a:pPr>
            <a:r>
              <a:rPr lang="en-US" sz="2400" b="1" dirty="0">
                <a:solidFill>
                  <a:srgbClr val="E9A23B"/>
                </a:solidFill>
                <a:latin typeface="Cambria" pitchFamily="34" charset="0"/>
                <a:ea typeface="Cambria" pitchFamily="34" charset="-122"/>
                <a:cs typeface="Cambria" pitchFamily="34" charset="-120"/>
              </a:rPr>
              <a:t>17.8 µg/m³</a:t>
            </a:r>
            <a:endParaRPr lang="en-US" sz="2400" dirty="0"/>
          </a:p>
        </p:txBody>
      </p:sp>
      <p:sp>
        <p:nvSpPr>
          <p:cNvPr id="9" name="Text 7"/>
          <p:cNvSpPr/>
          <p:nvPr/>
        </p:nvSpPr>
        <p:spPr>
          <a:xfrm>
            <a:off x="749808" y="4892040"/>
            <a:ext cx="2926080" cy="457200"/>
          </a:xfrm>
          <a:prstGeom prst="rect">
            <a:avLst/>
          </a:prstGeom>
          <a:noFill/>
          <a:ln/>
        </p:spPr>
        <p:txBody>
          <a:bodyPr wrap="square" rtlCol="0" anchor="ctr"/>
          <a:lstStyle/>
          <a:p>
            <a:pPr indent="0" marL="0">
              <a:buNone/>
            </a:pPr>
            <a:r>
              <a:rPr lang="en-US" sz="1200" dirty="0">
                <a:solidFill>
                  <a:srgbClr val="C7C9CE"/>
                </a:solidFill>
                <a:latin typeface="Calibri" pitchFamily="34" charset="0"/>
                <a:ea typeface="Calibri" pitchFamily="34" charset="-122"/>
                <a:cs typeface="Calibri" pitchFamily="34" charset="-120"/>
              </a:rPr>
              <a:t>promedio anual de PM2.5 en la ciudad</a:t>
            </a:r>
            <a:endParaRPr lang="en-US" sz="1200" dirty="0"/>
          </a:p>
        </p:txBody>
      </p:sp>
      <p:sp>
        <p:nvSpPr>
          <p:cNvPr id="10" name="Text 8"/>
          <p:cNvSpPr/>
          <p:nvPr/>
        </p:nvSpPr>
        <p:spPr>
          <a:xfrm>
            <a:off x="749808" y="5532120"/>
            <a:ext cx="2926080" cy="365760"/>
          </a:xfrm>
          <a:prstGeom prst="rect">
            <a:avLst/>
          </a:prstGeom>
          <a:noFill/>
          <a:ln/>
        </p:spPr>
        <p:txBody>
          <a:bodyPr wrap="square" rtlCol="0" anchor="ctr"/>
          <a:lstStyle/>
          <a:p>
            <a:pPr indent="0" marL="0">
              <a:buNone/>
            </a:pPr>
            <a:r>
              <a:rPr lang="en-US" sz="1100" i="1" dirty="0">
                <a:solidFill>
                  <a:srgbClr val="9AA0A8"/>
                </a:solidFill>
                <a:latin typeface="Calibri" pitchFamily="34" charset="0"/>
                <a:ea typeface="Calibri" pitchFamily="34" charset="-122"/>
                <a:cs typeface="Calibri" pitchFamily="34" charset="-120"/>
              </a:rPr>
              <a:t>15 µg/m³ = umbral OMS</a:t>
            </a:r>
            <a:endParaRPr lang="en-US" sz="1100" dirty="0"/>
          </a:p>
        </p:txBody>
      </p:sp>
      <p:sp>
        <p:nvSpPr>
          <p:cNvPr id="11" name="Shape 9"/>
          <p:cNvSpPr/>
          <p:nvPr/>
        </p:nvSpPr>
        <p:spPr>
          <a:xfrm>
            <a:off x="4069080" y="1874520"/>
            <a:ext cx="7543800" cy="4251960"/>
          </a:xfrm>
          <a:prstGeom prst="rect">
            <a:avLst/>
          </a:prstGeom>
          <a:solidFill>
            <a:srgbClr val="FFFFFF"/>
          </a:solidFill>
          <a:ln w="12700">
            <a:solidFill>
              <a:srgbClr val="E4E0D8"/>
            </a:solidFill>
            <a:prstDash val="solid"/>
          </a:ln>
        </p:spPr>
      </p:sp>
      <p:pic>
        <p:nvPicPr>
          <p:cNvPr id="12" name="Image 0" descr="real_charts/histograma_pm25.jpeg">    </p:cNvPr>
          <p:cNvPicPr>
            <a:picLocks noChangeAspect="1"/>
          </p:cNvPicPr>
          <p:nvPr/>
        </p:nvPicPr>
        <p:blipFill>
          <a:blip r:embed="rId1"/>
          <a:stretch>
            <a:fillRect/>
          </a:stretch>
        </p:blipFill>
        <p:spPr>
          <a:xfrm>
            <a:off x="4251960" y="2011680"/>
            <a:ext cx="7178040" cy="3520440"/>
          </a:xfrm>
          <a:prstGeom prst="rect">
            <a:avLst/>
          </a:prstGeom>
        </p:spPr>
      </p:pic>
      <p:sp>
        <p:nvSpPr>
          <p:cNvPr id="13" name="Text 10"/>
          <p:cNvSpPr/>
          <p:nvPr/>
        </p:nvSpPr>
        <p:spPr>
          <a:xfrm>
            <a:off x="4251960" y="5623560"/>
            <a:ext cx="7178040" cy="365760"/>
          </a:xfrm>
          <a:prstGeom prst="rect">
            <a:avLst/>
          </a:prstGeom>
          <a:noFill/>
          <a:ln/>
        </p:spPr>
        <p:txBody>
          <a:bodyPr wrap="square" rtlCol="0" anchor="ctr"/>
          <a:lstStyle/>
          <a:p>
            <a:pPr indent="0" marL="0">
              <a:buNone/>
            </a:pPr>
            <a:r>
              <a:rPr lang="en-US" sz="1050" i="1" dirty="0">
                <a:solidFill>
                  <a:srgbClr val="6B7078"/>
                </a:solidFill>
                <a:latin typeface="Calibri" pitchFamily="34" charset="0"/>
                <a:ea typeface="Calibri" pitchFamily="34" charset="-122"/>
                <a:cs typeface="Calibri" pitchFamily="34" charset="-120"/>
              </a:rPr>
              <a:t>Fuente: histograma generado a partir del dataset limpio (df_limpio).</a:t>
            </a:r>
            <a:endParaRPr lang="en-US" sz="1050" dirty="0"/>
          </a:p>
        </p:txBody>
      </p:sp>
      <p:sp>
        <p:nvSpPr>
          <p:cNvPr id="14" name="Text 11"/>
          <p:cNvSpPr/>
          <p:nvPr/>
        </p:nvSpPr>
        <p:spPr>
          <a:xfrm>
            <a:off x="11475720" y="6473952"/>
            <a:ext cx="548640" cy="274320"/>
          </a:xfrm>
          <a:prstGeom prst="rect">
            <a:avLst/>
          </a:prstGeom>
          <a:noFill/>
          <a:ln/>
        </p:spPr>
        <p:txBody>
          <a:bodyPr wrap="square" rtlCol="0" anchor="ctr"/>
          <a:lstStyle/>
          <a:p>
            <a:pPr algn="r" indent="0" marL="0">
              <a:buNone/>
            </a:pPr>
            <a:r>
              <a:rPr lang="en-US" sz="1000" dirty="0">
                <a:solidFill>
                  <a:srgbClr val="6B7078"/>
                </a:solidFill>
                <a:latin typeface="Calibri" pitchFamily="34" charset="0"/>
                <a:ea typeface="Calibri" pitchFamily="34" charset="-122"/>
                <a:cs typeface="Calibri" pitchFamily="34" charset="-120"/>
              </a:rPr>
              <a:t>08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5F2"/>
        </a:solidFill>
      </p:bgPr>
    </p:bg>
    <p:spTree>
      <p:nvGrpSpPr>
        <p:cNvPr id="1" name=""/>
        <p:cNvGrpSpPr/>
        <p:nvPr/>
      </p:nvGrpSpPr>
      <p:grpSpPr>
        <a:xfrm>
          <a:off x="0" y="0"/>
          <a:ext cx="0" cy="0"/>
          <a:chOff x="0" y="0"/>
          <a:chExt cx="0" cy="0"/>
        </a:xfrm>
      </p:grpSpPr>
      <p:sp>
        <p:nvSpPr>
          <p:cNvPr id="2" name="Text 0"/>
          <p:cNvSpPr/>
          <p:nvPr/>
        </p:nvSpPr>
        <p:spPr>
          <a:xfrm>
            <a:off x="548640" y="457200"/>
            <a:ext cx="7315200" cy="320040"/>
          </a:xfrm>
          <a:prstGeom prst="rect">
            <a:avLst/>
          </a:prstGeom>
          <a:noFill/>
          <a:ln/>
        </p:spPr>
        <p:txBody>
          <a:bodyPr wrap="square" rtlCol="0" anchor="ctr"/>
          <a:lstStyle/>
          <a:p>
            <a:pPr indent="0" marL="0">
              <a:buNone/>
            </a:pPr>
            <a:r>
              <a:rPr lang="en-US" sz="1300" b="1" spc="200" kern="0" dirty="0">
                <a:solidFill>
                  <a:srgbClr val="E9A23B"/>
                </a:solidFill>
                <a:latin typeface="Calibri" pitchFamily="34" charset="0"/>
                <a:ea typeface="Calibri" pitchFamily="34" charset="-122"/>
                <a:cs typeface="Calibri" pitchFamily="34" charset="-120"/>
              </a:rPr>
              <a:t>ANÁLISIS EXPLORATORIO</a:t>
            </a:r>
            <a:endParaRPr lang="en-US" sz="1300" dirty="0"/>
          </a:p>
        </p:txBody>
      </p:sp>
      <p:sp>
        <p:nvSpPr>
          <p:cNvPr id="3" name="Text 1"/>
          <p:cNvSpPr/>
          <p:nvPr/>
        </p:nvSpPr>
        <p:spPr>
          <a:xfrm>
            <a:off x="548640" y="777240"/>
            <a:ext cx="10972800" cy="822960"/>
          </a:xfrm>
          <a:prstGeom prst="rect">
            <a:avLst/>
          </a:prstGeom>
          <a:noFill/>
          <a:ln/>
        </p:spPr>
        <p:txBody>
          <a:bodyPr wrap="square" rtlCol="0" anchor="ctr"/>
          <a:lstStyle/>
          <a:p>
            <a:pPr algn="l" indent="0" marL="0">
              <a:buNone/>
            </a:pPr>
            <a:r>
              <a:rPr lang="en-US" sz="2400" b="1" dirty="0">
                <a:solidFill>
                  <a:srgbClr val="23262B"/>
                </a:solidFill>
                <a:latin typeface="Cambria" pitchFamily="34" charset="0"/>
                <a:ea typeface="Cambria" pitchFamily="34" charset="-122"/>
                <a:cs typeface="Cambria" pitchFamily="34" charset="-120"/>
              </a:rPr>
              <a:t>Carvajal-Sevillana y Kennedy duplican el límite diario de la OMS</a:t>
            </a:r>
            <a:endParaRPr lang="en-US" sz="2400" dirty="0"/>
          </a:p>
        </p:txBody>
      </p:sp>
      <p:sp>
        <p:nvSpPr>
          <p:cNvPr id="4" name="Shape 2"/>
          <p:cNvSpPr/>
          <p:nvPr/>
        </p:nvSpPr>
        <p:spPr>
          <a:xfrm>
            <a:off x="548640" y="1783080"/>
            <a:ext cx="10881360" cy="3794760"/>
          </a:xfrm>
          <a:prstGeom prst="rect">
            <a:avLst/>
          </a:prstGeom>
          <a:solidFill>
            <a:srgbClr val="FFFFFF"/>
          </a:solidFill>
          <a:ln w="12700">
            <a:solidFill>
              <a:srgbClr val="E4E0D8"/>
            </a:solidFill>
            <a:prstDash val="solid"/>
          </a:ln>
        </p:spPr>
      </p:sp>
      <p:pic>
        <p:nvPicPr>
          <p:cNvPr id="5" name="Image 0" descr="real_charts/barras_medianas_estaciones.jpeg">    </p:cNvPr>
          <p:cNvPicPr>
            <a:picLocks noChangeAspect="1"/>
          </p:cNvPicPr>
          <p:nvPr/>
        </p:nvPicPr>
        <p:blipFill>
          <a:blip r:embed="rId1"/>
          <a:stretch>
            <a:fillRect/>
          </a:stretch>
        </p:blipFill>
        <p:spPr>
          <a:xfrm>
            <a:off x="731520" y="1874520"/>
            <a:ext cx="10515600" cy="3611880"/>
          </a:xfrm>
          <a:prstGeom prst="rect">
            <a:avLst/>
          </a:prstGeom>
        </p:spPr>
      </p:pic>
      <p:sp>
        <p:nvSpPr>
          <p:cNvPr id="6" name="Shape 3"/>
          <p:cNvSpPr/>
          <p:nvPr/>
        </p:nvSpPr>
        <p:spPr>
          <a:xfrm>
            <a:off x="548640" y="5742432"/>
            <a:ext cx="256032" cy="256032"/>
          </a:xfrm>
          <a:prstGeom prst="ellipse">
            <a:avLst/>
          </a:prstGeom>
          <a:solidFill>
            <a:srgbClr val="C0392B"/>
          </a:solidFill>
          <a:ln/>
        </p:spPr>
      </p:sp>
      <p:sp>
        <p:nvSpPr>
          <p:cNvPr id="7" name="Text 4"/>
          <p:cNvSpPr/>
          <p:nvPr/>
        </p:nvSpPr>
        <p:spPr>
          <a:xfrm>
            <a:off x="914400" y="5669280"/>
            <a:ext cx="3291840" cy="411480"/>
          </a:xfrm>
          <a:prstGeom prst="rect">
            <a:avLst/>
          </a:prstGeom>
          <a:noFill/>
          <a:ln/>
        </p:spPr>
        <p:txBody>
          <a:bodyPr wrap="square" rtlCol="0" anchor="ctr"/>
          <a:lstStyle/>
          <a:p>
            <a:pPr indent="0" marL="0">
              <a:buNone/>
            </a:pPr>
            <a:r>
              <a:rPr lang="en-US" sz="1200" b="1" dirty="0">
                <a:solidFill>
                  <a:srgbClr val="23262B"/>
                </a:solidFill>
                <a:latin typeface="Calibri" pitchFamily="34" charset="0"/>
                <a:ea typeface="Calibri" pitchFamily="34" charset="-122"/>
                <a:cs typeface="Calibri" pitchFamily="34" charset="-120"/>
              </a:rPr>
              <a:t>Carvajal – Sevillana  ·  ~30.5 µg/m³</a:t>
            </a:r>
            <a:endParaRPr lang="en-US" sz="1200" dirty="0"/>
          </a:p>
        </p:txBody>
      </p:sp>
      <p:sp>
        <p:nvSpPr>
          <p:cNvPr id="8" name="Shape 5"/>
          <p:cNvSpPr/>
          <p:nvPr/>
        </p:nvSpPr>
        <p:spPr>
          <a:xfrm>
            <a:off x="4233672" y="5742432"/>
            <a:ext cx="256032" cy="256032"/>
          </a:xfrm>
          <a:prstGeom prst="ellipse">
            <a:avLst/>
          </a:prstGeom>
          <a:solidFill>
            <a:srgbClr val="C0392B"/>
          </a:solidFill>
          <a:ln/>
        </p:spPr>
      </p:sp>
      <p:sp>
        <p:nvSpPr>
          <p:cNvPr id="9" name="Text 6"/>
          <p:cNvSpPr/>
          <p:nvPr/>
        </p:nvSpPr>
        <p:spPr>
          <a:xfrm>
            <a:off x="4599432" y="5669280"/>
            <a:ext cx="3291840" cy="411480"/>
          </a:xfrm>
          <a:prstGeom prst="rect">
            <a:avLst/>
          </a:prstGeom>
          <a:noFill/>
          <a:ln/>
        </p:spPr>
        <p:txBody>
          <a:bodyPr wrap="square" rtlCol="0" anchor="ctr"/>
          <a:lstStyle/>
          <a:p>
            <a:pPr indent="0" marL="0">
              <a:buNone/>
            </a:pPr>
            <a:r>
              <a:rPr lang="en-US" sz="1200" b="1" dirty="0">
                <a:solidFill>
                  <a:srgbClr val="23262B"/>
                </a:solidFill>
                <a:latin typeface="Calibri" pitchFamily="34" charset="0"/>
                <a:ea typeface="Calibri" pitchFamily="34" charset="-122"/>
                <a:cs typeface="Calibri" pitchFamily="34" charset="-120"/>
              </a:rPr>
              <a:t>Kennedy  ·  ~25.0 µg/m³</a:t>
            </a:r>
            <a:endParaRPr lang="en-US" sz="1200" dirty="0"/>
          </a:p>
        </p:txBody>
      </p:sp>
      <p:sp>
        <p:nvSpPr>
          <p:cNvPr id="10" name="Shape 7"/>
          <p:cNvSpPr/>
          <p:nvPr/>
        </p:nvSpPr>
        <p:spPr>
          <a:xfrm>
            <a:off x="7918704" y="5742432"/>
            <a:ext cx="256032" cy="256032"/>
          </a:xfrm>
          <a:prstGeom prst="ellipse">
            <a:avLst/>
          </a:prstGeom>
          <a:solidFill>
            <a:srgbClr val="C0392B"/>
          </a:solidFill>
          <a:ln/>
        </p:spPr>
      </p:sp>
      <p:sp>
        <p:nvSpPr>
          <p:cNvPr id="11" name="Text 8"/>
          <p:cNvSpPr/>
          <p:nvPr/>
        </p:nvSpPr>
        <p:spPr>
          <a:xfrm>
            <a:off x="8284464" y="5669280"/>
            <a:ext cx="3291840" cy="411480"/>
          </a:xfrm>
          <a:prstGeom prst="rect">
            <a:avLst/>
          </a:prstGeom>
          <a:noFill/>
          <a:ln/>
        </p:spPr>
        <p:txBody>
          <a:bodyPr wrap="square" rtlCol="0" anchor="ctr"/>
          <a:lstStyle/>
          <a:p>
            <a:pPr indent="0" marL="0">
              <a:buNone/>
            </a:pPr>
            <a:r>
              <a:rPr lang="en-US" sz="1200" b="1" dirty="0">
                <a:solidFill>
                  <a:srgbClr val="23262B"/>
                </a:solidFill>
                <a:latin typeface="Calibri" pitchFamily="34" charset="0"/>
                <a:ea typeface="Calibri" pitchFamily="34" charset="-122"/>
                <a:cs typeface="Calibri" pitchFamily="34" charset="-120"/>
              </a:rPr>
              <a:t>Móvil 7ma  ·  ~22.5 µg/m³</a:t>
            </a:r>
            <a:endParaRPr lang="en-US" sz="1200" dirty="0"/>
          </a:p>
        </p:txBody>
      </p:sp>
      <p:sp>
        <p:nvSpPr>
          <p:cNvPr id="12" name="Text 9"/>
          <p:cNvSpPr/>
          <p:nvPr/>
        </p:nvSpPr>
        <p:spPr>
          <a:xfrm>
            <a:off x="11475720" y="6473952"/>
            <a:ext cx="548640" cy="274320"/>
          </a:xfrm>
          <a:prstGeom prst="rect">
            <a:avLst/>
          </a:prstGeom>
          <a:noFill/>
          <a:ln/>
        </p:spPr>
        <p:txBody>
          <a:bodyPr wrap="square" rtlCol="0" anchor="ctr"/>
          <a:lstStyle/>
          <a:p>
            <a:pPr algn="r" indent="0" marL="0">
              <a:buNone/>
            </a:pPr>
            <a:r>
              <a:rPr lang="en-US" sz="1000" dirty="0">
                <a:solidFill>
                  <a:srgbClr val="6B7078"/>
                </a:solidFill>
                <a:latin typeface="Calibri" pitchFamily="34" charset="0"/>
                <a:ea typeface="Calibri" pitchFamily="34" charset="-122"/>
                <a:cs typeface="Calibri" pitchFamily="34" charset="-120"/>
              </a:rPr>
              <a:t>09</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5F2"/>
        </a:solidFill>
      </p:bgPr>
    </p:bg>
    <p:spTree>
      <p:nvGrpSpPr>
        <p:cNvPr id="1" name=""/>
        <p:cNvGrpSpPr/>
        <p:nvPr/>
      </p:nvGrpSpPr>
      <p:grpSpPr>
        <a:xfrm>
          <a:off x="0" y="0"/>
          <a:ext cx="0" cy="0"/>
          <a:chOff x="0" y="0"/>
          <a:chExt cx="0" cy="0"/>
        </a:xfrm>
      </p:grpSpPr>
      <p:sp>
        <p:nvSpPr>
          <p:cNvPr id="2" name="Text 0"/>
          <p:cNvSpPr/>
          <p:nvPr/>
        </p:nvSpPr>
        <p:spPr>
          <a:xfrm>
            <a:off x="548640" y="457200"/>
            <a:ext cx="7315200" cy="320040"/>
          </a:xfrm>
          <a:prstGeom prst="rect">
            <a:avLst/>
          </a:prstGeom>
          <a:noFill/>
          <a:ln/>
        </p:spPr>
        <p:txBody>
          <a:bodyPr wrap="square" rtlCol="0" anchor="ctr"/>
          <a:lstStyle/>
          <a:p>
            <a:pPr indent="0" marL="0">
              <a:buNone/>
            </a:pPr>
            <a:r>
              <a:rPr lang="en-US" sz="1300" b="1" spc="200" kern="0" dirty="0">
                <a:solidFill>
                  <a:srgbClr val="E9A23B"/>
                </a:solidFill>
                <a:latin typeface="Calibri" pitchFamily="34" charset="0"/>
                <a:ea typeface="Calibri" pitchFamily="34" charset="-122"/>
                <a:cs typeface="Calibri" pitchFamily="34" charset="-120"/>
              </a:rPr>
              <a:t>ANÁLISIS EXPLORATORIO</a:t>
            </a:r>
            <a:endParaRPr lang="en-US" sz="1300" dirty="0"/>
          </a:p>
        </p:txBody>
      </p:sp>
      <p:sp>
        <p:nvSpPr>
          <p:cNvPr id="3" name="Text 1"/>
          <p:cNvSpPr/>
          <p:nvPr/>
        </p:nvSpPr>
        <p:spPr>
          <a:xfrm>
            <a:off x="548640" y="777240"/>
            <a:ext cx="10972800" cy="822960"/>
          </a:xfrm>
          <a:prstGeom prst="rect">
            <a:avLst/>
          </a:prstGeom>
          <a:noFill/>
          <a:ln/>
        </p:spPr>
        <p:txBody>
          <a:bodyPr wrap="square" rtlCol="0" anchor="ctr"/>
          <a:lstStyle/>
          <a:p>
            <a:pPr algn="l" indent="0" marL="0">
              <a:buNone/>
            </a:pPr>
            <a:r>
              <a:rPr lang="en-US" sz="2400" b="1" dirty="0">
                <a:solidFill>
                  <a:srgbClr val="23262B"/>
                </a:solidFill>
                <a:latin typeface="Cambria" pitchFamily="34" charset="0"/>
                <a:ea typeface="Cambria" pitchFamily="34" charset="-122"/>
                <a:cs typeface="Cambria" pitchFamily="34" charset="-120"/>
              </a:rPr>
              <a:t>La contaminación no es solo más alta: también es más volátil</a:t>
            </a:r>
            <a:endParaRPr lang="en-US" sz="2400" dirty="0"/>
          </a:p>
        </p:txBody>
      </p:sp>
      <p:sp>
        <p:nvSpPr>
          <p:cNvPr id="4" name="Shape 2"/>
          <p:cNvSpPr/>
          <p:nvPr/>
        </p:nvSpPr>
        <p:spPr>
          <a:xfrm>
            <a:off x="548640" y="1783080"/>
            <a:ext cx="10881360" cy="4160520"/>
          </a:xfrm>
          <a:prstGeom prst="rect">
            <a:avLst/>
          </a:prstGeom>
          <a:solidFill>
            <a:srgbClr val="FFFFFF"/>
          </a:solidFill>
          <a:ln w="12700">
            <a:solidFill>
              <a:srgbClr val="E4E0D8"/>
            </a:solidFill>
            <a:prstDash val="solid"/>
          </a:ln>
        </p:spPr>
      </p:sp>
      <p:pic>
        <p:nvPicPr>
          <p:cNvPr id="5" name="Image 0" descr="real_charts/boxplot_estaciones.jpeg">    </p:cNvPr>
          <p:cNvPicPr>
            <a:picLocks noChangeAspect="1"/>
          </p:cNvPicPr>
          <p:nvPr/>
        </p:nvPicPr>
        <p:blipFill>
          <a:blip r:embed="rId1"/>
          <a:stretch>
            <a:fillRect/>
          </a:stretch>
        </p:blipFill>
        <p:spPr>
          <a:xfrm>
            <a:off x="685800" y="1874520"/>
            <a:ext cx="10607040" cy="3977640"/>
          </a:xfrm>
          <a:prstGeom prst="rect">
            <a:avLst/>
          </a:prstGeom>
        </p:spPr>
      </p:pic>
      <p:sp>
        <p:nvSpPr>
          <p:cNvPr id="6" name="Text 3"/>
          <p:cNvSpPr/>
          <p:nvPr/>
        </p:nvSpPr>
        <p:spPr>
          <a:xfrm>
            <a:off x="548640" y="6035040"/>
            <a:ext cx="10881360" cy="457200"/>
          </a:xfrm>
          <a:prstGeom prst="rect">
            <a:avLst/>
          </a:prstGeom>
          <a:noFill/>
          <a:ln/>
        </p:spPr>
        <p:txBody>
          <a:bodyPr wrap="square" rtlCol="0" anchor="ctr"/>
          <a:lstStyle/>
          <a:p>
            <a:pPr indent="0" marL="0">
              <a:buNone/>
            </a:pPr>
            <a:r>
              <a:rPr lang="en-US" sz="1200" i="1" dirty="0">
                <a:solidFill>
                  <a:srgbClr val="6B7078"/>
                </a:solidFill>
                <a:latin typeface="Calibri" pitchFamily="34" charset="0"/>
                <a:ea typeface="Calibri" pitchFamily="34" charset="-122"/>
                <a:cs typeface="Calibri" pitchFamily="34" charset="-120"/>
              </a:rPr>
              <a:t>Carvajal-Sevillana no solo tiene la mediana más alta: también concentra los outliers más extremos (picos por encima de 80 µg/m³), lo que sugiere episodios puntuales de contaminación muy severa.</a:t>
            </a:r>
            <a:endParaRPr lang="en-US" sz="1200" dirty="0"/>
          </a:p>
        </p:txBody>
      </p:sp>
      <p:sp>
        <p:nvSpPr>
          <p:cNvPr id="7" name="Text 4"/>
          <p:cNvSpPr/>
          <p:nvPr/>
        </p:nvSpPr>
        <p:spPr>
          <a:xfrm>
            <a:off x="11475720" y="6473952"/>
            <a:ext cx="548640" cy="274320"/>
          </a:xfrm>
          <a:prstGeom prst="rect">
            <a:avLst/>
          </a:prstGeom>
          <a:noFill/>
          <a:ln/>
        </p:spPr>
        <p:txBody>
          <a:bodyPr wrap="square" rtlCol="0" anchor="ctr"/>
          <a:lstStyle/>
          <a:p>
            <a:pPr algn="r" indent="0" marL="0">
              <a:buNone/>
            </a:pPr>
            <a:r>
              <a:rPr lang="en-US" sz="1000" dirty="0">
                <a:solidFill>
                  <a:srgbClr val="6B7078"/>
                </a:solidFill>
                <a:latin typeface="Calibri" pitchFamily="34" charset="0"/>
                <a:ea typeface="Calibri" pitchFamily="34" charset="-122"/>
                <a:cs typeface="Calibri" pitchFamily="34" charset="-120"/>
              </a:rPr>
              <a:t>10</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5F2"/>
        </a:solidFill>
      </p:bgPr>
    </p:bg>
    <p:spTree>
      <p:nvGrpSpPr>
        <p:cNvPr id="1" name=""/>
        <p:cNvGrpSpPr/>
        <p:nvPr/>
      </p:nvGrpSpPr>
      <p:grpSpPr>
        <a:xfrm>
          <a:off x="0" y="0"/>
          <a:ext cx="0" cy="0"/>
          <a:chOff x="0" y="0"/>
          <a:chExt cx="0" cy="0"/>
        </a:xfrm>
      </p:grpSpPr>
      <p:sp>
        <p:nvSpPr>
          <p:cNvPr id="2" name="Text 0"/>
          <p:cNvSpPr/>
          <p:nvPr/>
        </p:nvSpPr>
        <p:spPr>
          <a:xfrm>
            <a:off x="548640" y="457200"/>
            <a:ext cx="7315200" cy="320040"/>
          </a:xfrm>
          <a:prstGeom prst="rect">
            <a:avLst/>
          </a:prstGeom>
          <a:noFill/>
          <a:ln/>
        </p:spPr>
        <p:txBody>
          <a:bodyPr wrap="square" rtlCol="0" anchor="ctr"/>
          <a:lstStyle/>
          <a:p>
            <a:pPr indent="0" marL="0">
              <a:buNone/>
            </a:pPr>
            <a:r>
              <a:rPr lang="en-US" sz="1300" b="1" spc="200" kern="0" dirty="0">
                <a:solidFill>
                  <a:srgbClr val="E9A23B"/>
                </a:solidFill>
                <a:latin typeface="Calibri" pitchFamily="34" charset="0"/>
                <a:ea typeface="Calibri" pitchFamily="34" charset="-122"/>
                <a:cs typeface="Calibri" pitchFamily="34" charset="-120"/>
              </a:rPr>
              <a:t>ANÁLISIS EXPLORATORIO</a:t>
            </a:r>
            <a:endParaRPr lang="en-US" sz="1300" dirty="0"/>
          </a:p>
        </p:txBody>
      </p:sp>
      <p:sp>
        <p:nvSpPr>
          <p:cNvPr id="3" name="Text 1"/>
          <p:cNvSpPr/>
          <p:nvPr/>
        </p:nvSpPr>
        <p:spPr>
          <a:xfrm>
            <a:off x="548640" y="777240"/>
            <a:ext cx="10972800" cy="822960"/>
          </a:xfrm>
          <a:prstGeom prst="rect">
            <a:avLst/>
          </a:prstGeom>
          <a:noFill/>
          <a:ln/>
        </p:spPr>
        <p:txBody>
          <a:bodyPr wrap="square" rtlCol="0" anchor="ctr"/>
          <a:lstStyle/>
          <a:p>
            <a:pPr algn="l" indent="0" marL="0">
              <a:buNone/>
            </a:pPr>
            <a:r>
              <a:rPr lang="en-US" sz="2800" b="1" dirty="0">
                <a:solidFill>
                  <a:srgbClr val="23262B"/>
                </a:solidFill>
                <a:latin typeface="Cambria" pitchFamily="34" charset="0"/>
                <a:ea typeface="Cambria" pitchFamily="34" charset="-122"/>
                <a:cs typeface="Cambria" pitchFamily="34" charset="-120"/>
              </a:rPr>
              <a:t>Marzo es el mes más crítico del año</a:t>
            </a:r>
            <a:endParaRPr lang="en-US" sz="2800" dirty="0"/>
          </a:p>
        </p:txBody>
      </p:sp>
      <p:sp>
        <p:nvSpPr>
          <p:cNvPr id="4" name="Shape 2"/>
          <p:cNvSpPr/>
          <p:nvPr/>
        </p:nvSpPr>
        <p:spPr>
          <a:xfrm>
            <a:off x="548640" y="1783080"/>
            <a:ext cx="5257800" cy="3794760"/>
          </a:xfrm>
          <a:prstGeom prst="rect">
            <a:avLst/>
          </a:prstGeom>
          <a:solidFill>
            <a:srgbClr val="FFFFFF"/>
          </a:solidFill>
          <a:ln w="12700">
            <a:solidFill>
              <a:srgbClr val="E4E0D8"/>
            </a:solidFill>
            <a:prstDash val="solid"/>
          </a:ln>
        </p:spPr>
      </p:sp>
      <p:pic>
        <p:nvPicPr>
          <p:cNvPr id="5" name="Image 0" descr="real_charts/barras_meses.jpeg">    </p:cNvPr>
          <p:cNvPicPr>
            <a:picLocks noChangeAspect="1"/>
          </p:cNvPicPr>
          <p:nvPr/>
        </p:nvPicPr>
        <p:blipFill>
          <a:blip r:embed="rId1"/>
          <a:stretch>
            <a:fillRect/>
          </a:stretch>
        </p:blipFill>
        <p:spPr>
          <a:xfrm>
            <a:off x="658368" y="2148840"/>
            <a:ext cx="5029200" cy="3291840"/>
          </a:xfrm>
          <a:prstGeom prst="rect">
            <a:avLst/>
          </a:prstGeom>
        </p:spPr>
      </p:pic>
      <p:sp>
        <p:nvSpPr>
          <p:cNvPr id="6" name="Shape 3"/>
          <p:cNvSpPr/>
          <p:nvPr/>
        </p:nvSpPr>
        <p:spPr>
          <a:xfrm>
            <a:off x="5989320" y="1783080"/>
            <a:ext cx="5440680" cy="3794760"/>
          </a:xfrm>
          <a:prstGeom prst="rect">
            <a:avLst/>
          </a:prstGeom>
          <a:solidFill>
            <a:srgbClr val="FFFFFF"/>
          </a:solidFill>
          <a:ln w="12700">
            <a:solidFill>
              <a:srgbClr val="E4E0D8"/>
            </a:solidFill>
            <a:prstDash val="solid"/>
          </a:ln>
        </p:spPr>
      </p:sp>
      <p:pic>
        <p:nvPicPr>
          <p:cNvPr id="7" name="Image 1" descr="real_charts/serie_temporal.jpeg">    </p:cNvPr>
          <p:cNvPicPr>
            <a:picLocks noChangeAspect="1"/>
          </p:cNvPicPr>
          <p:nvPr/>
        </p:nvPicPr>
        <p:blipFill>
          <a:blip r:embed="rId2"/>
          <a:stretch>
            <a:fillRect/>
          </a:stretch>
        </p:blipFill>
        <p:spPr>
          <a:xfrm>
            <a:off x="6108192" y="2240280"/>
            <a:ext cx="5212080" cy="3063240"/>
          </a:xfrm>
          <a:prstGeom prst="rect">
            <a:avLst/>
          </a:prstGeom>
        </p:spPr>
      </p:pic>
      <p:sp>
        <p:nvSpPr>
          <p:cNvPr id="8" name="Text 4"/>
          <p:cNvSpPr/>
          <p:nvPr/>
        </p:nvSpPr>
        <p:spPr>
          <a:xfrm>
            <a:off x="548640" y="5669280"/>
            <a:ext cx="10881360" cy="777240"/>
          </a:xfrm>
          <a:prstGeom prst="rect">
            <a:avLst/>
          </a:prstGeom>
          <a:noFill/>
          <a:ln/>
        </p:spPr>
        <p:txBody>
          <a:bodyPr wrap="square" rtlCol="0" anchor="ctr"/>
          <a:lstStyle/>
          <a:p>
            <a:pPr indent="0" marL="0">
              <a:lnSpc>
                <a:spcPct val="120000"/>
              </a:lnSpc>
              <a:buNone/>
            </a:pPr>
            <a:r>
              <a:rPr lang="en-US" sz="1250" dirty="0">
                <a:solidFill>
                  <a:srgbClr val="23262B"/>
                </a:solidFill>
                <a:latin typeface="Calibri" pitchFamily="34" charset="0"/>
                <a:ea typeface="Calibri" pitchFamily="34" charset="-122"/>
                <a:cs typeface="Calibri" pitchFamily="34" charset="-120"/>
              </a:rPr>
              <a:t>Marzo (~25.8 µg/m³) y febrero (~22.4 µg/m³) concentran los niveles más altos del año; julio es el mes más limpio. La serie 2013–2022 confirma que este repunte se repite cada año a comienzos de año, no es un evento aislado.</a:t>
            </a:r>
            <a:endParaRPr lang="en-US" sz="1250" dirty="0"/>
          </a:p>
        </p:txBody>
      </p:sp>
      <p:sp>
        <p:nvSpPr>
          <p:cNvPr id="9" name="Text 5"/>
          <p:cNvSpPr/>
          <p:nvPr/>
        </p:nvSpPr>
        <p:spPr>
          <a:xfrm>
            <a:off x="11475720" y="6473952"/>
            <a:ext cx="548640" cy="274320"/>
          </a:xfrm>
          <a:prstGeom prst="rect">
            <a:avLst/>
          </a:prstGeom>
          <a:noFill/>
          <a:ln/>
        </p:spPr>
        <p:txBody>
          <a:bodyPr wrap="square" rtlCol="0" anchor="ctr"/>
          <a:lstStyle/>
          <a:p>
            <a:pPr algn="r" indent="0" marL="0">
              <a:buNone/>
            </a:pPr>
            <a:r>
              <a:rPr lang="en-US" sz="1000" dirty="0">
                <a:solidFill>
                  <a:srgbClr val="6B7078"/>
                </a:solidFill>
                <a:latin typeface="Calibri" pitchFamily="34" charset="0"/>
                <a:ea typeface="Calibri" pitchFamily="34" charset="-122"/>
                <a:cs typeface="Calibri" pitchFamily="34" charset="-120"/>
              </a:rPr>
              <a:t>11</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5F2"/>
        </a:solidFill>
      </p:bgPr>
    </p:bg>
    <p:spTree>
      <p:nvGrpSpPr>
        <p:cNvPr id="1" name=""/>
        <p:cNvGrpSpPr/>
        <p:nvPr/>
      </p:nvGrpSpPr>
      <p:grpSpPr>
        <a:xfrm>
          <a:off x="0" y="0"/>
          <a:ext cx="0" cy="0"/>
          <a:chOff x="0" y="0"/>
          <a:chExt cx="0" cy="0"/>
        </a:xfrm>
      </p:grpSpPr>
      <p:sp>
        <p:nvSpPr>
          <p:cNvPr id="2" name="Text 0"/>
          <p:cNvSpPr/>
          <p:nvPr/>
        </p:nvSpPr>
        <p:spPr>
          <a:xfrm>
            <a:off x="548640" y="457200"/>
            <a:ext cx="7315200" cy="320040"/>
          </a:xfrm>
          <a:prstGeom prst="rect">
            <a:avLst/>
          </a:prstGeom>
          <a:noFill/>
          <a:ln/>
        </p:spPr>
        <p:txBody>
          <a:bodyPr wrap="square" rtlCol="0" anchor="ctr"/>
          <a:lstStyle/>
          <a:p>
            <a:pPr indent="0" marL="0">
              <a:buNone/>
            </a:pPr>
            <a:r>
              <a:rPr lang="en-US" sz="1300" b="1" spc="200" kern="0" dirty="0">
                <a:solidFill>
                  <a:srgbClr val="E9A23B"/>
                </a:solidFill>
                <a:latin typeface="Calibri" pitchFamily="34" charset="0"/>
                <a:ea typeface="Calibri" pitchFamily="34" charset="-122"/>
                <a:cs typeface="Calibri" pitchFamily="34" charset="-120"/>
              </a:rPr>
              <a:t>ANÁLISIS ESTADÍSTICO</a:t>
            </a:r>
            <a:endParaRPr lang="en-US" sz="1300" dirty="0"/>
          </a:p>
        </p:txBody>
      </p:sp>
      <p:sp>
        <p:nvSpPr>
          <p:cNvPr id="3" name="Text 1"/>
          <p:cNvSpPr/>
          <p:nvPr/>
        </p:nvSpPr>
        <p:spPr>
          <a:xfrm>
            <a:off x="548640" y="777240"/>
            <a:ext cx="10515600" cy="822960"/>
          </a:xfrm>
          <a:prstGeom prst="rect">
            <a:avLst/>
          </a:prstGeom>
          <a:noFill/>
          <a:ln/>
        </p:spPr>
        <p:txBody>
          <a:bodyPr wrap="square" rtlCol="0" anchor="ctr"/>
          <a:lstStyle/>
          <a:p>
            <a:pPr algn="l" indent="0" marL="0">
              <a:buNone/>
            </a:pPr>
            <a:r>
              <a:rPr lang="en-US" sz="3200" b="1" dirty="0">
                <a:solidFill>
                  <a:srgbClr val="23262B"/>
                </a:solidFill>
                <a:latin typeface="Cambria" pitchFamily="34" charset="0"/>
                <a:ea typeface="Cambria" pitchFamily="34" charset="-122"/>
                <a:cs typeface="Cambria" pitchFamily="34" charset="-120"/>
              </a:rPr>
              <a:t>Clasificación de riesgo según guías de la OMS</a:t>
            </a:r>
            <a:endParaRPr lang="en-US" sz="3200" dirty="0"/>
          </a:p>
        </p:txBody>
      </p:sp>
      <p:sp>
        <p:nvSpPr>
          <p:cNvPr id="4" name="Text 2"/>
          <p:cNvSpPr/>
          <p:nvPr/>
        </p:nvSpPr>
        <p:spPr>
          <a:xfrm>
            <a:off x="548640" y="1783080"/>
            <a:ext cx="10881360" cy="640080"/>
          </a:xfrm>
          <a:prstGeom prst="rect">
            <a:avLst/>
          </a:prstGeom>
          <a:noFill/>
          <a:ln/>
        </p:spPr>
        <p:txBody>
          <a:bodyPr wrap="square" rtlCol="0" anchor="ctr"/>
          <a:lstStyle/>
          <a:p>
            <a:pPr indent="0" marL="0">
              <a:lnSpc>
                <a:spcPct val="120000"/>
              </a:lnSpc>
              <a:buNone/>
            </a:pPr>
            <a:r>
              <a:rPr lang="en-US" sz="1400" dirty="0">
                <a:solidFill>
                  <a:srgbClr val="23262B"/>
                </a:solidFill>
                <a:latin typeface="Calibri" pitchFamily="34" charset="0"/>
                <a:ea typeface="Calibri" pitchFamily="34" charset="-122"/>
                <a:cs typeface="Calibri" pitchFamily="34" charset="-120"/>
              </a:rPr>
              <a:t>Cada registro diario de PM2.5 se clasificó en cuatro niveles de riesgo para poder comparar estaciones, meses y días de forma consistente en todo el análisis:</a:t>
            </a:r>
            <a:endParaRPr lang="en-US" sz="1400" dirty="0"/>
          </a:p>
        </p:txBody>
      </p:sp>
      <p:sp>
        <p:nvSpPr>
          <p:cNvPr id="5" name="Shape 3"/>
          <p:cNvSpPr/>
          <p:nvPr/>
        </p:nvSpPr>
        <p:spPr>
          <a:xfrm>
            <a:off x="548640" y="2606040"/>
            <a:ext cx="2560320" cy="2103120"/>
          </a:xfrm>
          <a:prstGeom prst="rect">
            <a:avLst/>
          </a:prstGeom>
          <a:solidFill>
            <a:srgbClr val="27AE60"/>
          </a:solidFill>
          <a:ln/>
        </p:spPr>
      </p:sp>
      <p:sp>
        <p:nvSpPr>
          <p:cNvPr id="6" name="Text 4"/>
          <p:cNvSpPr/>
          <p:nvPr/>
        </p:nvSpPr>
        <p:spPr>
          <a:xfrm>
            <a:off x="731520" y="2788920"/>
            <a:ext cx="2194560" cy="685800"/>
          </a:xfrm>
          <a:prstGeom prst="rect">
            <a:avLst/>
          </a:prstGeom>
          <a:noFill/>
          <a:ln/>
        </p:spPr>
        <p:txBody>
          <a:bodyPr wrap="square" rtlCol="0" anchor="ctr"/>
          <a:lstStyle/>
          <a:p>
            <a:pPr indent="0" marL="0">
              <a:buNone/>
            </a:pPr>
            <a:r>
              <a:rPr lang="en-US" sz="1600" b="1" dirty="0">
                <a:solidFill>
                  <a:srgbClr val="FFFFFF"/>
                </a:solidFill>
                <a:latin typeface="Cambria" pitchFamily="34" charset="0"/>
                <a:ea typeface="Cambria" pitchFamily="34" charset="-122"/>
                <a:cs typeface="Cambria" pitchFamily="34" charset="-120"/>
              </a:rPr>
              <a:t>Bueno</a:t>
            </a:r>
            <a:endParaRPr lang="en-US" sz="1600" dirty="0"/>
          </a:p>
        </p:txBody>
      </p:sp>
      <p:sp>
        <p:nvSpPr>
          <p:cNvPr id="7" name="Text 5"/>
          <p:cNvSpPr/>
          <p:nvPr/>
        </p:nvSpPr>
        <p:spPr>
          <a:xfrm>
            <a:off x="731520" y="3429000"/>
            <a:ext cx="2194560" cy="1097280"/>
          </a:xfrm>
          <a:prstGeom prst="rect">
            <a:avLst/>
          </a:prstGeom>
          <a:noFill/>
          <a:ln/>
        </p:spPr>
        <p:txBody>
          <a:bodyPr wrap="square" rtlCol="0" anchor="ctr"/>
          <a:lstStyle/>
          <a:p>
            <a:pPr indent="0" marL="0">
              <a:buNone/>
            </a:pPr>
            <a:r>
              <a:rPr lang="en-US" sz="1400" dirty="0">
                <a:solidFill>
                  <a:srgbClr val="FFFFFF"/>
                </a:solidFill>
                <a:latin typeface="Calibri" pitchFamily="34" charset="0"/>
                <a:ea typeface="Calibri" pitchFamily="34" charset="-122"/>
                <a:cs typeface="Calibri" pitchFamily="34" charset="-120"/>
              </a:rPr>
              <a:t>≤ 15 µg/m³</a:t>
            </a:r>
            <a:endParaRPr lang="en-US" sz="1400" dirty="0"/>
          </a:p>
        </p:txBody>
      </p:sp>
      <p:sp>
        <p:nvSpPr>
          <p:cNvPr id="8" name="Shape 6"/>
          <p:cNvSpPr/>
          <p:nvPr/>
        </p:nvSpPr>
        <p:spPr>
          <a:xfrm>
            <a:off x="3291840" y="2606040"/>
            <a:ext cx="2560320" cy="2103120"/>
          </a:xfrm>
          <a:prstGeom prst="rect">
            <a:avLst/>
          </a:prstGeom>
          <a:solidFill>
            <a:srgbClr val="E9A23B"/>
          </a:solidFill>
          <a:ln/>
        </p:spPr>
      </p:sp>
      <p:sp>
        <p:nvSpPr>
          <p:cNvPr id="9" name="Text 7"/>
          <p:cNvSpPr/>
          <p:nvPr/>
        </p:nvSpPr>
        <p:spPr>
          <a:xfrm>
            <a:off x="3474720" y="2788920"/>
            <a:ext cx="2194560" cy="685800"/>
          </a:xfrm>
          <a:prstGeom prst="rect">
            <a:avLst/>
          </a:prstGeom>
          <a:noFill/>
          <a:ln/>
        </p:spPr>
        <p:txBody>
          <a:bodyPr wrap="square" rtlCol="0" anchor="ctr"/>
          <a:lstStyle/>
          <a:p>
            <a:pPr indent="0" marL="0">
              <a:buNone/>
            </a:pPr>
            <a:r>
              <a:rPr lang="en-US" sz="1600" b="1" dirty="0">
                <a:solidFill>
                  <a:srgbClr val="FFFFFF"/>
                </a:solidFill>
                <a:latin typeface="Cambria" pitchFamily="34" charset="0"/>
                <a:ea typeface="Cambria" pitchFamily="34" charset="-122"/>
                <a:cs typeface="Cambria" pitchFamily="34" charset="-120"/>
              </a:rPr>
              <a:t>Moderado</a:t>
            </a:r>
            <a:endParaRPr lang="en-US" sz="1600" dirty="0"/>
          </a:p>
        </p:txBody>
      </p:sp>
      <p:sp>
        <p:nvSpPr>
          <p:cNvPr id="10" name="Text 8"/>
          <p:cNvSpPr/>
          <p:nvPr/>
        </p:nvSpPr>
        <p:spPr>
          <a:xfrm>
            <a:off x="3474720" y="3429000"/>
            <a:ext cx="2194560" cy="1097280"/>
          </a:xfrm>
          <a:prstGeom prst="rect">
            <a:avLst/>
          </a:prstGeom>
          <a:noFill/>
          <a:ln/>
        </p:spPr>
        <p:txBody>
          <a:bodyPr wrap="square" rtlCol="0" anchor="ctr"/>
          <a:lstStyle/>
          <a:p>
            <a:pPr indent="0" marL="0">
              <a:buNone/>
            </a:pPr>
            <a:r>
              <a:rPr lang="en-US" sz="1400" dirty="0">
                <a:solidFill>
                  <a:srgbClr val="FFFFFF"/>
                </a:solidFill>
                <a:latin typeface="Calibri" pitchFamily="34" charset="0"/>
                <a:ea typeface="Calibri" pitchFamily="34" charset="-122"/>
                <a:cs typeface="Calibri" pitchFamily="34" charset="-120"/>
              </a:rPr>
              <a:t>15 – 35 µg/m³</a:t>
            </a:r>
            <a:endParaRPr lang="en-US" sz="1400" dirty="0"/>
          </a:p>
        </p:txBody>
      </p:sp>
      <p:sp>
        <p:nvSpPr>
          <p:cNvPr id="11" name="Shape 9"/>
          <p:cNvSpPr/>
          <p:nvPr/>
        </p:nvSpPr>
        <p:spPr>
          <a:xfrm>
            <a:off x="6035040" y="2606040"/>
            <a:ext cx="2560320" cy="2103120"/>
          </a:xfrm>
          <a:prstGeom prst="rect">
            <a:avLst/>
          </a:prstGeom>
          <a:solidFill>
            <a:srgbClr val="D97B2B"/>
          </a:solidFill>
          <a:ln/>
        </p:spPr>
      </p:sp>
      <p:sp>
        <p:nvSpPr>
          <p:cNvPr id="12" name="Text 10"/>
          <p:cNvSpPr/>
          <p:nvPr/>
        </p:nvSpPr>
        <p:spPr>
          <a:xfrm>
            <a:off x="6217920" y="2788920"/>
            <a:ext cx="2194560" cy="685800"/>
          </a:xfrm>
          <a:prstGeom prst="rect">
            <a:avLst/>
          </a:prstGeom>
          <a:noFill/>
          <a:ln/>
        </p:spPr>
        <p:txBody>
          <a:bodyPr wrap="square" rtlCol="0" anchor="ctr"/>
          <a:lstStyle/>
          <a:p>
            <a:pPr indent="0" marL="0">
              <a:buNone/>
            </a:pPr>
            <a:r>
              <a:rPr lang="en-US" sz="1600" b="1" dirty="0">
                <a:solidFill>
                  <a:srgbClr val="FFFFFF"/>
                </a:solidFill>
                <a:latin typeface="Cambria" pitchFamily="34" charset="0"/>
                <a:ea typeface="Cambria" pitchFamily="34" charset="-122"/>
                <a:cs typeface="Cambria" pitchFamily="34" charset="-120"/>
              </a:rPr>
              <a:t>Dañino para sensibles</a:t>
            </a:r>
            <a:endParaRPr lang="en-US" sz="1600" dirty="0"/>
          </a:p>
        </p:txBody>
      </p:sp>
      <p:sp>
        <p:nvSpPr>
          <p:cNvPr id="13" name="Text 11"/>
          <p:cNvSpPr/>
          <p:nvPr/>
        </p:nvSpPr>
        <p:spPr>
          <a:xfrm>
            <a:off x="6217920" y="3429000"/>
            <a:ext cx="2194560" cy="1097280"/>
          </a:xfrm>
          <a:prstGeom prst="rect">
            <a:avLst/>
          </a:prstGeom>
          <a:noFill/>
          <a:ln/>
        </p:spPr>
        <p:txBody>
          <a:bodyPr wrap="square" rtlCol="0" anchor="ctr"/>
          <a:lstStyle/>
          <a:p>
            <a:pPr indent="0" marL="0">
              <a:buNone/>
            </a:pPr>
            <a:r>
              <a:rPr lang="en-US" sz="1400" dirty="0">
                <a:solidFill>
                  <a:srgbClr val="FFFFFF"/>
                </a:solidFill>
                <a:latin typeface="Calibri" pitchFamily="34" charset="0"/>
                <a:ea typeface="Calibri" pitchFamily="34" charset="-122"/>
                <a:cs typeface="Calibri" pitchFamily="34" charset="-120"/>
              </a:rPr>
              <a:t>35 – 75 µg/m³</a:t>
            </a:r>
            <a:endParaRPr lang="en-US" sz="1400" dirty="0"/>
          </a:p>
        </p:txBody>
      </p:sp>
      <p:sp>
        <p:nvSpPr>
          <p:cNvPr id="14" name="Shape 12"/>
          <p:cNvSpPr/>
          <p:nvPr/>
        </p:nvSpPr>
        <p:spPr>
          <a:xfrm>
            <a:off x="8778240" y="2606040"/>
            <a:ext cx="2560320" cy="2103120"/>
          </a:xfrm>
          <a:prstGeom prst="rect">
            <a:avLst/>
          </a:prstGeom>
          <a:solidFill>
            <a:srgbClr val="C0392B"/>
          </a:solidFill>
          <a:ln/>
        </p:spPr>
      </p:sp>
      <p:sp>
        <p:nvSpPr>
          <p:cNvPr id="15" name="Text 13"/>
          <p:cNvSpPr/>
          <p:nvPr/>
        </p:nvSpPr>
        <p:spPr>
          <a:xfrm>
            <a:off x="8961120" y="2788920"/>
            <a:ext cx="2194560" cy="685800"/>
          </a:xfrm>
          <a:prstGeom prst="rect">
            <a:avLst/>
          </a:prstGeom>
          <a:noFill/>
          <a:ln/>
        </p:spPr>
        <p:txBody>
          <a:bodyPr wrap="square" rtlCol="0" anchor="ctr"/>
          <a:lstStyle/>
          <a:p>
            <a:pPr indent="0" marL="0">
              <a:buNone/>
            </a:pPr>
            <a:r>
              <a:rPr lang="en-US" sz="1600" b="1" dirty="0">
                <a:solidFill>
                  <a:srgbClr val="FFFFFF"/>
                </a:solidFill>
                <a:latin typeface="Cambria" pitchFamily="34" charset="0"/>
                <a:ea typeface="Cambria" pitchFamily="34" charset="-122"/>
                <a:cs typeface="Cambria" pitchFamily="34" charset="-120"/>
              </a:rPr>
              <a:t>Dañino</a:t>
            </a:r>
            <a:endParaRPr lang="en-US" sz="1600" dirty="0"/>
          </a:p>
        </p:txBody>
      </p:sp>
      <p:sp>
        <p:nvSpPr>
          <p:cNvPr id="16" name="Text 14"/>
          <p:cNvSpPr/>
          <p:nvPr/>
        </p:nvSpPr>
        <p:spPr>
          <a:xfrm>
            <a:off x="8961120" y="3429000"/>
            <a:ext cx="2194560" cy="1097280"/>
          </a:xfrm>
          <a:prstGeom prst="rect">
            <a:avLst/>
          </a:prstGeom>
          <a:noFill/>
          <a:ln/>
        </p:spPr>
        <p:txBody>
          <a:bodyPr wrap="square" rtlCol="0" anchor="ctr"/>
          <a:lstStyle/>
          <a:p>
            <a:pPr indent="0" marL="0">
              <a:buNone/>
            </a:pPr>
            <a:r>
              <a:rPr lang="en-US" sz="1400" dirty="0">
                <a:solidFill>
                  <a:srgbClr val="FFFFFF"/>
                </a:solidFill>
                <a:latin typeface="Calibri" pitchFamily="34" charset="0"/>
                <a:ea typeface="Calibri" pitchFamily="34" charset="-122"/>
                <a:cs typeface="Calibri" pitchFamily="34" charset="-120"/>
              </a:rPr>
              <a:t>&gt; 75 µg/m³</a:t>
            </a:r>
            <a:endParaRPr lang="en-US" sz="1400" dirty="0"/>
          </a:p>
        </p:txBody>
      </p:sp>
      <p:sp>
        <p:nvSpPr>
          <p:cNvPr id="17" name="Shape 15"/>
          <p:cNvSpPr/>
          <p:nvPr/>
        </p:nvSpPr>
        <p:spPr>
          <a:xfrm>
            <a:off x="548640" y="4983480"/>
            <a:ext cx="10881360" cy="1051560"/>
          </a:xfrm>
          <a:prstGeom prst="rect">
            <a:avLst/>
          </a:prstGeom>
          <a:solidFill>
            <a:srgbClr val="2E323A"/>
          </a:solidFill>
          <a:ln/>
        </p:spPr>
      </p:sp>
      <p:sp>
        <p:nvSpPr>
          <p:cNvPr id="18" name="Text 16"/>
          <p:cNvSpPr/>
          <p:nvPr/>
        </p:nvSpPr>
        <p:spPr>
          <a:xfrm>
            <a:off x="822960" y="5120640"/>
            <a:ext cx="10332720" cy="822960"/>
          </a:xfrm>
          <a:prstGeom prst="rect">
            <a:avLst/>
          </a:prstGeom>
          <a:noFill/>
          <a:ln/>
        </p:spPr>
        <p:txBody>
          <a:bodyPr wrap="square" rtlCol="0" anchor="ctr"/>
          <a:lstStyle/>
          <a:p>
            <a:pPr indent="0" marL="0">
              <a:buNone/>
            </a:pPr>
            <a:r>
              <a:rPr lang="en-US" sz="1400" i="1" dirty="0">
                <a:solidFill>
                  <a:srgbClr val="FFFFFF"/>
                </a:solidFill>
                <a:latin typeface="Cambria" pitchFamily="34" charset="0"/>
                <a:ea typeface="Cambria" pitchFamily="34" charset="-122"/>
                <a:cs typeface="Cambria" pitchFamily="34" charset="-120"/>
              </a:rPr>
              <a:t>Con esta clasificación, el 53.6% de los días de la ciudad cae por fuera del nivel “Bueno” — es decir, más de la mitad de los días implican algún grado de riesgo respiratorio.</a:t>
            </a:r>
            <a:endParaRPr lang="en-US" sz="1400" dirty="0"/>
          </a:p>
        </p:txBody>
      </p:sp>
      <p:sp>
        <p:nvSpPr>
          <p:cNvPr id="19" name="Text 17"/>
          <p:cNvSpPr/>
          <p:nvPr/>
        </p:nvSpPr>
        <p:spPr>
          <a:xfrm>
            <a:off x="11475720" y="6473952"/>
            <a:ext cx="548640" cy="274320"/>
          </a:xfrm>
          <a:prstGeom prst="rect">
            <a:avLst/>
          </a:prstGeom>
          <a:noFill/>
          <a:ln/>
        </p:spPr>
        <p:txBody>
          <a:bodyPr wrap="square" rtlCol="0" anchor="ctr"/>
          <a:lstStyle/>
          <a:p>
            <a:pPr algn="r" indent="0" marL="0">
              <a:buNone/>
            </a:pPr>
            <a:r>
              <a:rPr lang="en-US" sz="1000" dirty="0">
                <a:solidFill>
                  <a:srgbClr val="6B7078"/>
                </a:solidFill>
                <a:latin typeface="Calibri" pitchFamily="34" charset="0"/>
                <a:ea typeface="Calibri" pitchFamily="34" charset="-122"/>
                <a:cs typeface="Calibri" pitchFamily="34" charset="-120"/>
              </a:rPr>
              <a:t>12</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23262B"/>
        </a:solidFill>
      </p:bgPr>
    </p:bg>
    <p:spTree>
      <p:nvGrpSpPr>
        <p:cNvPr id="1" name=""/>
        <p:cNvGrpSpPr/>
        <p:nvPr/>
      </p:nvGrpSpPr>
      <p:grpSpPr>
        <a:xfrm>
          <a:off x="0" y="0"/>
          <a:ext cx="0" cy="0"/>
          <a:chOff x="0" y="0"/>
          <a:chExt cx="0" cy="0"/>
        </a:xfrm>
      </p:grpSpPr>
      <p:sp>
        <p:nvSpPr>
          <p:cNvPr id="2" name="Text 0"/>
          <p:cNvSpPr/>
          <p:nvPr/>
        </p:nvSpPr>
        <p:spPr>
          <a:xfrm>
            <a:off x="548640" y="457200"/>
            <a:ext cx="7315200" cy="320040"/>
          </a:xfrm>
          <a:prstGeom prst="rect">
            <a:avLst/>
          </a:prstGeom>
          <a:noFill/>
          <a:ln/>
        </p:spPr>
        <p:txBody>
          <a:bodyPr wrap="square" rtlCol="0" anchor="ctr"/>
          <a:lstStyle/>
          <a:p>
            <a:pPr indent="0" marL="0">
              <a:buNone/>
            </a:pPr>
            <a:r>
              <a:rPr lang="en-US" sz="1300" b="1" spc="200" kern="0" dirty="0">
                <a:solidFill>
                  <a:srgbClr val="E9A23B"/>
                </a:solidFill>
                <a:latin typeface="Calibri" pitchFamily="34" charset="0"/>
                <a:ea typeface="Calibri" pitchFamily="34" charset="-122"/>
                <a:cs typeface="Calibri" pitchFamily="34" charset="-120"/>
              </a:rPr>
              <a:t>MODELO</a:t>
            </a:r>
            <a:endParaRPr lang="en-US" sz="1300" dirty="0"/>
          </a:p>
        </p:txBody>
      </p:sp>
      <p:sp>
        <p:nvSpPr>
          <p:cNvPr id="3" name="Text 1"/>
          <p:cNvSpPr/>
          <p:nvPr/>
        </p:nvSpPr>
        <p:spPr>
          <a:xfrm>
            <a:off x="548640" y="777240"/>
            <a:ext cx="10515600" cy="822960"/>
          </a:xfrm>
          <a:prstGeom prst="rect">
            <a:avLst/>
          </a:prstGeom>
          <a:noFill/>
          <a:ln/>
        </p:spPr>
        <p:txBody>
          <a:bodyPr wrap="square" rtlCol="0" anchor="ctr"/>
          <a:lstStyle/>
          <a:p>
            <a:pPr algn="l" indent="0" marL="0">
              <a:buNone/>
            </a:pPr>
            <a:r>
              <a:rPr lang="en-US" sz="3200" b="1" dirty="0">
                <a:solidFill>
                  <a:srgbClr val="FFFFFF"/>
                </a:solidFill>
                <a:latin typeface="Cambria" pitchFamily="34" charset="0"/>
                <a:ea typeface="Cambria" pitchFamily="34" charset="-122"/>
                <a:cs typeface="Cambria" pitchFamily="34" charset="-120"/>
              </a:rPr>
              <a:t>Segmentación de estaciones con K-Means</a:t>
            </a:r>
            <a:endParaRPr lang="en-US" sz="3200" dirty="0"/>
          </a:p>
        </p:txBody>
      </p:sp>
      <p:sp>
        <p:nvSpPr>
          <p:cNvPr id="4" name="Text 2"/>
          <p:cNvSpPr/>
          <p:nvPr/>
        </p:nvSpPr>
        <p:spPr>
          <a:xfrm>
            <a:off x="548640" y="1783080"/>
            <a:ext cx="5029200" cy="320040"/>
          </a:xfrm>
          <a:prstGeom prst="rect">
            <a:avLst/>
          </a:prstGeom>
          <a:noFill/>
          <a:ln/>
        </p:spPr>
        <p:txBody>
          <a:bodyPr wrap="square" rtlCol="0" anchor="ctr"/>
          <a:lstStyle/>
          <a:p>
            <a:pPr indent="0" marL="0">
              <a:buNone/>
            </a:pPr>
            <a:r>
              <a:rPr lang="en-US" sz="1350" b="1" dirty="0">
                <a:solidFill>
                  <a:srgbClr val="E9A23B"/>
                </a:solidFill>
                <a:latin typeface="Calibri" pitchFamily="34" charset="0"/>
                <a:ea typeface="Calibri" pitchFamily="34" charset="-122"/>
                <a:cs typeface="Calibri" pitchFamily="34" charset="-120"/>
              </a:rPr>
              <a:t>¿Por qué este modelo?</a:t>
            </a:r>
            <a:endParaRPr lang="en-US" sz="1350" dirty="0"/>
          </a:p>
        </p:txBody>
      </p:sp>
      <p:sp>
        <p:nvSpPr>
          <p:cNvPr id="5" name="Text 3"/>
          <p:cNvSpPr/>
          <p:nvPr/>
        </p:nvSpPr>
        <p:spPr>
          <a:xfrm>
            <a:off x="548640" y="2148840"/>
            <a:ext cx="5029200" cy="1371600"/>
          </a:xfrm>
          <a:prstGeom prst="rect">
            <a:avLst/>
          </a:prstGeom>
          <a:noFill/>
          <a:ln/>
        </p:spPr>
        <p:txBody>
          <a:bodyPr wrap="square" rtlCol="0" anchor="ctr"/>
          <a:lstStyle/>
          <a:p>
            <a:pPr indent="0" marL="0">
              <a:lnSpc>
                <a:spcPct val="125000"/>
              </a:lnSpc>
              <a:buNone/>
            </a:pPr>
            <a:r>
              <a:rPr lang="en-US" sz="1300" dirty="0">
                <a:solidFill>
                  <a:srgbClr val="D8D5CF"/>
                </a:solidFill>
                <a:latin typeface="Calibri" pitchFamily="34" charset="0"/>
                <a:ea typeface="Calibri" pitchFamily="34" charset="-122"/>
                <a:cs typeface="Calibri" pitchFamily="34" charset="-120"/>
              </a:rPr>
              <a:t>El objetivo no es predecir un valor futuro, sino agrupar las 27 estaciones según su perfil de contaminación a lo largo del año. K-Means es apropiado porque no requiere etiquetas previas y permite descubrir grupos naturales en los datos.</a:t>
            </a:r>
            <a:endParaRPr lang="en-US" sz="1300" dirty="0"/>
          </a:p>
        </p:txBody>
      </p:sp>
      <p:sp>
        <p:nvSpPr>
          <p:cNvPr id="6" name="Text 4"/>
          <p:cNvSpPr/>
          <p:nvPr/>
        </p:nvSpPr>
        <p:spPr>
          <a:xfrm>
            <a:off x="548640" y="3657600"/>
            <a:ext cx="5029200" cy="320040"/>
          </a:xfrm>
          <a:prstGeom prst="rect">
            <a:avLst/>
          </a:prstGeom>
          <a:noFill/>
          <a:ln/>
        </p:spPr>
        <p:txBody>
          <a:bodyPr wrap="square" rtlCol="0" anchor="ctr"/>
          <a:lstStyle/>
          <a:p>
            <a:pPr indent="0" marL="0">
              <a:buNone/>
            </a:pPr>
            <a:r>
              <a:rPr lang="en-US" sz="1350" b="1" dirty="0">
                <a:solidFill>
                  <a:srgbClr val="E9A23B"/>
                </a:solidFill>
                <a:latin typeface="Calibri" pitchFamily="34" charset="0"/>
                <a:ea typeface="Calibri" pitchFamily="34" charset="-122"/>
                <a:cs typeface="Calibri" pitchFamily="34" charset="-120"/>
              </a:rPr>
              <a:t>Datos de entrada</a:t>
            </a:r>
            <a:endParaRPr lang="en-US" sz="1350" dirty="0"/>
          </a:p>
        </p:txBody>
      </p:sp>
      <p:sp>
        <p:nvSpPr>
          <p:cNvPr id="7" name="Text 5"/>
          <p:cNvSpPr/>
          <p:nvPr/>
        </p:nvSpPr>
        <p:spPr>
          <a:xfrm>
            <a:off x="548640" y="4023360"/>
            <a:ext cx="5029200" cy="1188720"/>
          </a:xfrm>
          <a:prstGeom prst="rect">
            <a:avLst/>
          </a:prstGeom>
          <a:noFill/>
          <a:ln/>
        </p:spPr>
        <p:txBody>
          <a:bodyPr wrap="square" rtlCol="0" anchor="ctr"/>
          <a:lstStyle/>
          <a:p>
            <a:pPr indent="0" marL="0">
              <a:lnSpc>
                <a:spcPct val="125000"/>
              </a:lnSpc>
              <a:buNone/>
            </a:pPr>
            <a:r>
              <a:rPr lang="en-US" sz="1300" dirty="0">
                <a:solidFill>
                  <a:srgbClr val="D8D5CF"/>
                </a:solidFill>
                <a:latin typeface="Calibri" pitchFamily="34" charset="0"/>
                <a:ea typeface="Calibri" pitchFamily="34" charset="-122"/>
                <a:cs typeface="Calibri" pitchFamily="34" charset="-120"/>
              </a:rPr>
              <a:t>Matriz de 27 estaciones × 12 meses, con el PM2.5 promedio mensual de cada estación. Se usó K = 3 para obtener perfiles claramente interpretables: crítico, medio y bueno.</a:t>
            </a:r>
            <a:endParaRPr lang="en-US" sz="1300" dirty="0"/>
          </a:p>
        </p:txBody>
      </p:sp>
      <p:sp>
        <p:nvSpPr>
          <p:cNvPr id="8" name="Shape 6"/>
          <p:cNvSpPr/>
          <p:nvPr/>
        </p:nvSpPr>
        <p:spPr>
          <a:xfrm>
            <a:off x="6263640" y="1783080"/>
            <a:ext cx="1051560" cy="1051560"/>
          </a:xfrm>
          <a:prstGeom prst="ellipse">
            <a:avLst/>
          </a:prstGeom>
          <a:solidFill>
            <a:srgbClr val="C0392B"/>
          </a:solidFill>
          <a:ln/>
        </p:spPr>
      </p:sp>
      <p:sp>
        <p:nvSpPr>
          <p:cNvPr id="9" name="Text 7"/>
          <p:cNvSpPr/>
          <p:nvPr/>
        </p:nvSpPr>
        <p:spPr>
          <a:xfrm>
            <a:off x="6263640" y="1783080"/>
            <a:ext cx="1051560" cy="1051560"/>
          </a:xfrm>
          <a:prstGeom prst="rect">
            <a:avLst/>
          </a:prstGeom>
          <a:noFill/>
          <a:ln/>
        </p:spPr>
        <p:txBody>
          <a:bodyPr wrap="square" rtlCol="0" anchor="ctr"/>
          <a:lstStyle/>
          <a:p>
            <a:pPr algn="ctr" indent="0" marL="0">
              <a:buNone/>
            </a:pPr>
            <a:r>
              <a:rPr lang="en-US" sz="2600" b="1" dirty="0">
                <a:solidFill>
                  <a:srgbClr val="FFFFFF"/>
                </a:solidFill>
                <a:latin typeface="Cambria" pitchFamily="34" charset="0"/>
                <a:ea typeface="Cambria" pitchFamily="34" charset="-122"/>
                <a:cs typeface="Cambria" pitchFamily="34" charset="-120"/>
              </a:rPr>
              <a:t>1</a:t>
            </a:r>
            <a:endParaRPr lang="en-US" sz="2600" dirty="0"/>
          </a:p>
        </p:txBody>
      </p:sp>
      <p:sp>
        <p:nvSpPr>
          <p:cNvPr id="10" name="Text 8"/>
          <p:cNvSpPr/>
          <p:nvPr/>
        </p:nvSpPr>
        <p:spPr>
          <a:xfrm>
            <a:off x="7498080" y="1801368"/>
            <a:ext cx="4114800" cy="365760"/>
          </a:xfrm>
          <a:prstGeom prst="rect">
            <a:avLst/>
          </a:prstGeom>
          <a:noFill/>
          <a:ln/>
        </p:spPr>
        <p:txBody>
          <a:bodyPr wrap="square"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Grupo crítico</a:t>
            </a:r>
            <a:endParaRPr lang="en-US" sz="1500" dirty="0"/>
          </a:p>
        </p:txBody>
      </p:sp>
      <p:sp>
        <p:nvSpPr>
          <p:cNvPr id="11" name="Text 9"/>
          <p:cNvSpPr/>
          <p:nvPr/>
        </p:nvSpPr>
        <p:spPr>
          <a:xfrm>
            <a:off x="7498080" y="2167128"/>
            <a:ext cx="4206240" cy="594360"/>
          </a:xfrm>
          <a:prstGeom prst="rect">
            <a:avLst/>
          </a:prstGeom>
          <a:noFill/>
          <a:ln/>
        </p:spPr>
        <p:txBody>
          <a:bodyPr wrap="square" rtlCol="0" anchor="ctr"/>
          <a:lstStyle/>
          <a:p>
            <a:pPr indent="0" marL="0">
              <a:lnSpc>
                <a:spcPct val="115000"/>
              </a:lnSpc>
              <a:buNone/>
            </a:pPr>
            <a:r>
              <a:rPr lang="en-US" sz="1200" dirty="0">
                <a:solidFill>
                  <a:srgbClr val="B9BCC2"/>
                </a:solidFill>
                <a:latin typeface="Calibri" pitchFamily="34" charset="0"/>
                <a:ea typeface="Calibri" pitchFamily="34" charset="-122"/>
                <a:cs typeface="Calibri" pitchFamily="34" charset="-120"/>
              </a:rPr>
              <a:t>Estaciones con PM2.5 consistentemente alto todo el año.</a:t>
            </a:r>
            <a:endParaRPr lang="en-US" sz="1200" dirty="0"/>
          </a:p>
        </p:txBody>
      </p:sp>
      <p:sp>
        <p:nvSpPr>
          <p:cNvPr id="12" name="Shape 10"/>
          <p:cNvSpPr/>
          <p:nvPr/>
        </p:nvSpPr>
        <p:spPr>
          <a:xfrm>
            <a:off x="6263640" y="3383280"/>
            <a:ext cx="1051560" cy="1051560"/>
          </a:xfrm>
          <a:prstGeom prst="ellipse">
            <a:avLst/>
          </a:prstGeom>
          <a:solidFill>
            <a:srgbClr val="E9A23B"/>
          </a:solidFill>
          <a:ln/>
        </p:spPr>
      </p:sp>
      <p:sp>
        <p:nvSpPr>
          <p:cNvPr id="13" name="Text 11"/>
          <p:cNvSpPr/>
          <p:nvPr/>
        </p:nvSpPr>
        <p:spPr>
          <a:xfrm>
            <a:off x="6263640" y="3383280"/>
            <a:ext cx="1051560" cy="1051560"/>
          </a:xfrm>
          <a:prstGeom prst="rect">
            <a:avLst/>
          </a:prstGeom>
          <a:noFill/>
          <a:ln/>
        </p:spPr>
        <p:txBody>
          <a:bodyPr wrap="square" rtlCol="0" anchor="ctr"/>
          <a:lstStyle/>
          <a:p>
            <a:pPr algn="ctr" indent="0" marL="0">
              <a:buNone/>
            </a:pPr>
            <a:r>
              <a:rPr lang="en-US" sz="2600" b="1" dirty="0">
                <a:solidFill>
                  <a:srgbClr val="FFFFFF"/>
                </a:solidFill>
                <a:latin typeface="Cambria" pitchFamily="34" charset="0"/>
                <a:ea typeface="Cambria" pitchFamily="34" charset="-122"/>
                <a:cs typeface="Cambria" pitchFamily="34" charset="-120"/>
              </a:rPr>
              <a:t>2</a:t>
            </a:r>
            <a:endParaRPr lang="en-US" sz="2600" dirty="0"/>
          </a:p>
        </p:txBody>
      </p:sp>
      <p:sp>
        <p:nvSpPr>
          <p:cNvPr id="14" name="Text 12"/>
          <p:cNvSpPr/>
          <p:nvPr/>
        </p:nvSpPr>
        <p:spPr>
          <a:xfrm>
            <a:off x="7498080" y="3401568"/>
            <a:ext cx="4114800" cy="365760"/>
          </a:xfrm>
          <a:prstGeom prst="rect">
            <a:avLst/>
          </a:prstGeom>
          <a:noFill/>
          <a:ln/>
        </p:spPr>
        <p:txBody>
          <a:bodyPr wrap="square"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Grupo medio</a:t>
            </a:r>
            <a:endParaRPr lang="en-US" sz="1500" dirty="0"/>
          </a:p>
        </p:txBody>
      </p:sp>
      <p:sp>
        <p:nvSpPr>
          <p:cNvPr id="15" name="Text 13"/>
          <p:cNvSpPr/>
          <p:nvPr/>
        </p:nvSpPr>
        <p:spPr>
          <a:xfrm>
            <a:off x="7498080" y="3767328"/>
            <a:ext cx="4206240" cy="594360"/>
          </a:xfrm>
          <a:prstGeom prst="rect">
            <a:avLst/>
          </a:prstGeom>
          <a:noFill/>
          <a:ln/>
        </p:spPr>
        <p:txBody>
          <a:bodyPr wrap="square" rtlCol="0" anchor="ctr"/>
          <a:lstStyle/>
          <a:p>
            <a:pPr indent="0" marL="0">
              <a:lnSpc>
                <a:spcPct val="115000"/>
              </a:lnSpc>
              <a:buNone/>
            </a:pPr>
            <a:r>
              <a:rPr lang="en-US" sz="1200" dirty="0">
                <a:solidFill>
                  <a:srgbClr val="B9BCC2"/>
                </a:solidFill>
                <a:latin typeface="Calibri" pitchFamily="34" charset="0"/>
                <a:ea typeface="Calibri" pitchFamily="34" charset="-122"/>
                <a:cs typeface="Calibri" pitchFamily="34" charset="-120"/>
              </a:rPr>
              <a:t>Niveles intermedios, con variación estacional visible.</a:t>
            </a:r>
            <a:endParaRPr lang="en-US" sz="1200" dirty="0"/>
          </a:p>
        </p:txBody>
      </p:sp>
      <p:sp>
        <p:nvSpPr>
          <p:cNvPr id="16" name="Shape 14"/>
          <p:cNvSpPr/>
          <p:nvPr/>
        </p:nvSpPr>
        <p:spPr>
          <a:xfrm>
            <a:off x="6263640" y="4983480"/>
            <a:ext cx="1051560" cy="1051560"/>
          </a:xfrm>
          <a:prstGeom prst="ellipse">
            <a:avLst/>
          </a:prstGeom>
          <a:solidFill>
            <a:srgbClr val="27AE60"/>
          </a:solidFill>
          <a:ln/>
        </p:spPr>
      </p:sp>
      <p:sp>
        <p:nvSpPr>
          <p:cNvPr id="17" name="Text 15"/>
          <p:cNvSpPr/>
          <p:nvPr/>
        </p:nvSpPr>
        <p:spPr>
          <a:xfrm>
            <a:off x="6263640" y="4983480"/>
            <a:ext cx="1051560" cy="1051560"/>
          </a:xfrm>
          <a:prstGeom prst="rect">
            <a:avLst/>
          </a:prstGeom>
          <a:noFill/>
          <a:ln/>
        </p:spPr>
        <p:txBody>
          <a:bodyPr wrap="square" rtlCol="0" anchor="ctr"/>
          <a:lstStyle/>
          <a:p>
            <a:pPr algn="ctr" indent="0" marL="0">
              <a:buNone/>
            </a:pPr>
            <a:r>
              <a:rPr lang="en-US" sz="2600" b="1" dirty="0">
                <a:solidFill>
                  <a:srgbClr val="FFFFFF"/>
                </a:solidFill>
                <a:latin typeface="Cambria" pitchFamily="34" charset="0"/>
                <a:ea typeface="Cambria" pitchFamily="34" charset="-122"/>
                <a:cs typeface="Cambria" pitchFamily="34" charset="-120"/>
              </a:rPr>
              <a:t>3</a:t>
            </a:r>
            <a:endParaRPr lang="en-US" sz="2600" dirty="0"/>
          </a:p>
        </p:txBody>
      </p:sp>
      <p:sp>
        <p:nvSpPr>
          <p:cNvPr id="18" name="Text 16"/>
          <p:cNvSpPr/>
          <p:nvPr/>
        </p:nvSpPr>
        <p:spPr>
          <a:xfrm>
            <a:off x="7498080" y="5001768"/>
            <a:ext cx="4114800" cy="365760"/>
          </a:xfrm>
          <a:prstGeom prst="rect">
            <a:avLst/>
          </a:prstGeom>
          <a:noFill/>
          <a:ln/>
        </p:spPr>
        <p:txBody>
          <a:bodyPr wrap="square"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Grupo bueno</a:t>
            </a:r>
            <a:endParaRPr lang="en-US" sz="1500" dirty="0"/>
          </a:p>
        </p:txBody>
      </p:sp>
      <p:sp>
        <p:nvSpPr>
          <p:cNvPr id="19" name="Text 17"/>
          <p:cNvSpPr/>
          <p:nvPr/>
        </p:nvSpPr>
        <p:spPr>
          <a:xfrm>
            <a:off x="7498080" y="5367528"/>
            <a:ext cx="4206240" cy="594360"/>
          </a:xfrm>
          <a:prstGeom prst="rect">
            <a:avLst/>
          </a:prstGeom>
          <a:noFill/>
          <a:ln/>
        </p:spPr>
        <p:txBody>
          <a:bodyPr wrap="square" rtlCol="0" anchor="ctr"/>
          <a:lstStyle/>
          <a:p>
            <a:pPr indent="0" marL="0">
              <a:lnSpc>
                <a:spcPct val="115000"/>
              </a:lnSpc>
              <a:buNone/>
            </a:pPr>
            <a:r>
              <a:rPr lang="en-US" sz="1200" dirty="0">
                <a:solidFill>
                  <a:srgbClr val="B9BCC2"/>
                </a:solidFill>
                <a:latin typeface="Calibri" pitchFamily="34" charset="0"/>
                <a:ea typeface="Calibri" pitchFamily="34" charset="-122"/>
                <a:cs typeface="Calibri" pitchFamily="34" charset="-120"/>
              </a:rPr>
              <a:t>Las estaciones con mejor calidad del aire de la ciudad.</a:t>
            </a:r>
            <a:endParaRPr lang="en-US" sz="1200" dirty="0"/>
          </a:p>
        </p:txBody>
      </p:sp>
      <p:sp>
        <p:nvSpPr>
          <p:cNvPr id="20" name="Text 18"/>
          <p:cNvSpPr/>
          <p:nvPr/>
        </p:nvSpPr>
        <p:spPr>
          <a:xfrm>
            <a:off x="11475720" y="6473952"/>
            <a:ext cx="548640" cy="274320"/>
          </a:xfrm>
          <a:prstGeom prst="rect">
            <a:avLst/>
          </a:prstGeom>
          <a:noFill/>
          <a:ln/>
        </p:spPr>
        <p:txBody>
          <a:bodyPr wrap="square" rtlCol="0" anchor="ctr"/>
          <a:lstStyle/>
          <a:p>
            <a:pPr algn="r" indent="0" marL="0">
              <a:buNone/>
            </a:pPr>
            <a:r>
              <a:rPr lang="en-US" sz="1000" dirty="0">
                <a:solidFill>
                  <a:srgbClr val="9AA0A8"/>
                </a:solidFill>
                <a:latin typeface="Calibri" pitchFamily="34" charset="0"/>
                <a:ea typeface="Calibri" pitchFamily="34" charset="-122"/>
                <a:cs typeface="Calibri" pitchFamily="34" charset="-120"/>
              </a:rPr>
              <a:t>13</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7F5F2"/>
        </a:solidFill>
      </p:bgPr>
    </p:bg>
    <p:spTree>
      <p:nvGrpSpPr>
        <p:cNvPr id="1" name=""/>
        <p:cNvGrpSpPr/>
        <p:nvPr/>
      </p:nvGrpSpPr>
      <p:grpSpPr>
        <a:xfrm>
          <a:off x="0" y="0"/>
          <a:ext cx="0" cy="0"/>
          <a:chOff x="0" y="0"/>
          <a:chExt cx="0" cy="0"/>
        </a:xfrm>
      </p:grpSpPr>
      <p:sp>
        <p:nvSpPr>
          <p:cNvPr id="2" name="Text 0"/>
          <p:cNvSpPr/>
          <p:nvPr/>
        </p:nvSpPr>
        <p:spPr>
          <a:xfrm>
            <a:off x="548640" y="457200"/>
            <a:ext cx="7315200" cy="320040"/>
          </a:xfrm>
          <a:prstGeom prst="rect">
            <a:avLst/>
          </a:prstGeom>
          <a:noFill/>
          <a:ln/>
        </p:spPr>
        <p:txBody>
          <a:bodyPr wrap="square" rtlCol="0" anchor="ctr"/>
          <a:lstStyle/>
          <a:p>
            <a:pPr indent="0" marL="0">
              <a:buNone/>
            </a:pPr>
            <a:r>
              <a:rPr lang="en-US" sz="1300" b="1" spc="200" kern="0" dirty="0">
                <a:solidFill>
                  <a:srgbClr val="E9A23B"/>
                </a:solidFill>
                <a:latin typeface="Calibri" pitchFamily="34" charset="0"/>
                <a:ea typeface="Calibri" pitchFamily="34" charset="-122"/>
                <a:cs typeface="Calibri" pitchFamily="34" charset="-120"/>
              </a:rPr>
              <a:t>CIERRE</a:t>
            </a:r>
            <a:endParaRPr lang="en-US" sz="1300" dirty="0"/>
          </a:p>
        </p:txBody>
      </p:sp>
      <p:sp>
        <p:nvSpPr>
          <p:cNvPr id="3" name="Text 1"/>
          <p:cNvSpPr/>
          <p:nvPr/>
        </p:nvSpPr>
        <p:spPr>
          <a:xfrm>
            <a:off x="548640" y="777240"/>
            <a:ext cx="10515600" cy="822960"/>
          </a:xfrm>
          <a:prstGeom prst="rect">
            <a:avLst/>
          </a:prstGeom>
          <a:noFill/>
          <a:ln/>
        </p:spPr>
        <p:txBody>
          <a:bodyPr wrap="square" rtlCol="0" anchor="ctr"/>
          <a:lstStyle/>
          <a:p>
            <a:pPr algn="l" indent="0" marL="0">
              <a:buNone/>
            </a:pPr>
            <a:r>
              <a:rPr lang="en-US" sz="3200" b="1" dirty="0">
                <a:solidFill>
                  <a:srgbClr val="23262B"/>
                </a:solidFill>
                <a:latin typeface="Cambria" pitchFamily="34" charset="0"/>
                <a:ea typeface="Cambria" pitchFamily="34" charset="-122"/>
                <a:cs typeface="Cambria" pitchFamily="34" charset="-120"/>
              </a:rPr>
              <a:t>Conclusiones y recomendaciones</a:t>
            </a:r>
            <a:endParaRPr lang="en-US" sz="3200" dirty="0"/>
          </a:p>
        </p:txBody>
      </p:sp>
      <p:sp>
        <p:nvSpPr>
          <p:cNvPr id="4" name="Text 2"/>
          <p:cNvSpPr/>
          <p:nvPr/>
        </p:nvSpPr>
        <p:spPr>
          <a:xfrm>
            <a:off x="548640" y="1783080"/>
            <a:ext cx="5212080" cy="320040"/>
          </a:xfrm>
          <a:prstGeom prst="rect">
            <a:avLst/>
          </a:prstGeom>
          <a:noFill/>
          <a:ln/>
        </p:spPr>
        <p:txBody>
          <a:bodyPr wrap="square" rtlCol="0" anchor="ctr"/>
          <a:lstStyle/>
          <a:p>
            <a:pPr indent="0" marL="0">
              <a:buNone/>
            </a:pPr>
            <a:r>
              <a:rPr lang="en-US" sz="1400" b="1" dirty="0">
                <a:solidFill>
                  <a:srgbClr val="23262B"/>
                </a:solidFill>
                <a:latin typeface="Calibri" pitchFamily="34" charset="0"/>
                <a:ea typeface="Calibri" pitchFamily="34" charset="-122"/>
                <a:cs typeface="Calibri" pitchFamily="34" charset="-120"/>
              </a:rPr>
              <a:t>Hallazgo principal</a:t>
            </a:r>
            <a:endParaRPr lang="en-US" sz="1400" dirty="0"/>
          </a:p>
        </p:txBody>
      </p:sp>
      <p:sp>
        <p:nvSpPr>
          <p:cNvPr id="5" name="Shape 3"/>
          <p:cNvSpPr/>
          <p:nvPr/>
        </p:nvSpPr>
        <p:spPr>
          <a:xfrm>
            <a:off x="548640" y="2148840"/>
            <a:ext cx="5212080" cy="1508760"/>
          </a:xfrm>
          <a:prstGeom prst="rect">
            <a:avLst/>
          </a:prstGeom>
          <a:solidFill>
            <a:srgbClr val="23262B"/>
          </a:solidFill>
          <a:ln/>
        </p:spPr>
      </p:sp>
      <p:sp>
        <p:nvSpPr>
          <p:cNvPr id="6" name="Text 4"/>
          <p:cNvSpPr/>
          <p:nvPr/>
        </p:nvSpPr>
        <p:spPr>
          <a:xfrm>
            <a:off x="777240" y="2286000"/>
            <a:ext cx="4754880" cy="1234440"/>
          </a:xfrm>
          <a:prstGeom prst="rect">
            <a:avLst/>
          </a:prstGeom>
          <a:noFill/>
          <a:ln/>
        </p:spPr>
        <p:txBody>
          <a:bodyPr wrap="square" rtlCol="0" anchor="ctr"/>
          <a:lstStyle/>
          <a:p>
            <a:pPr indent="0" marL="0">
              <a:lnSpc>
                <a:spcPct val="120000"/>
              </a:lnSpc>
              <a:buNone/>
            </a:pPr>
            <a:r>
              <a:rPr lang="en-US" sz="1300" i="1" dirty="0">
                <a:solidFill>
                  <a:srgbClr val="FFFFFF"/>
                </a:solidFill>
                <a:latin typeface="Cambria" pitchFamily="34" charset="0"/>
                <a:ea typeface="Cambria" pitchFamily="34" charset="-122"/>
                <a:cs typeface="Cambria" pitchFamily="34" charset="-120"/>
              </a:rPr>
              <a:t>El 53.6% de los días en Bogotá supera el límite diario de PM2.5 de la OMS. Carvajal-Sevillana, Kennedy y Móvil 7ma son las zonas más afectadas, y el riesgo se concentra en marzo y febrero de cada año.</a:t>
            </a:r>
            <a:endParaRPr lang="en-US" sz="1300" dirty="0"/>
          </a:p>
        </p:txBody>
      </p:sp>
      <p:sp>
        <p:nvSpPr>
          <p:cNvPr id="7" name="Text 5"/>
          <p:cNvSpPr/>
          <p:nvPr/>
        </p:nvSpPr>
        <p:spPr>
          <a:xfrm>
            <a:off x="548640" y="3840480"/>
            <a:ext cx="5212080" cy="320040"/>
          </a:xfrm>
          <a:prstGeom prst="rect">
            <a:avLst/>
          </a:prstGeom>
          <a:noFill/>
          <a:ln/>
        </p:spPr>
        <p:txBody>
          <a:bodyPr wrap="square" rtlCol="0" anchor="ctr"/>
          <a:lstStyle/>
          <a:p>
            <a:pPr indent="0" marL="0">
              <a:buNone/>
            </a:pPr>
            <a:r>
              <a:rPr lang="en-US" sz="1400" b="1" dirty="0">
                <a:solidFill>
                  <a:srgbClr val="23262B"/>
                </a:solidFill>
                <a:latin typeface="Calibri" pitchFamily="34" charset="0"/>
                <a:ea typeface="Calibri" pitchFamily="34" charset="-122"/>
                <a:cs typeface="Calibri" pitchFamily="34" charset="-120"/>
              </a:rPr>
              <a:t>Lo que no podemos afirmar</a:t>
            </a:r>
            <a:endParaRPr lang="en-US" sz="1400" dirty="0"/>
          </a:p>
        </p:txBody>
      </p:sp>
      <p:sp>
        <p:nvSpPr>
          <p:cNvPr id="8" name="Text 6"/>
          <p:cNvSpPr/>
          <p:nvPr/>
        </p:nvSpPr>
        <p:spPr>
          <a:xfrm>
            <a:off x="548640" y="4206240"/>
            <a:ext cx="5212080" cy="457200"/>
          </a:xfrm>
          <a:prstGeom prst="rect">
            <a:avLst/>
          </a:prstGeom>
          <a:noFill/>
          <a:ln/>
        </p:spPr>
        <p:txBody>
          <a:bodyPr wrap="square" rtlCol="0" anchor="ctr"/>
          <a:lstStyle/>
          <a:p>
            <a:pPr indent="0" marL="0">
              <a:buNone/>
            </a:pPr>
            <a:r>
              <a:rPr lang="en-US" sz="1250" dirty="0">
                <a:solidFill>
                  <a:srgbClr val="6B7078"/>
                </a:solidFill>
                <a:latin typeface="Calibri" pitchFamily="34" charset="0"/>
                <a:ea typeface="Calibri" pitchFamily="34" charset="-122"/>
                <a:cs typeface="Calibri" pitchFamily="34" charset="-120"/>
              </a:rPr>
              <a:t>•  No hay evidencia de causalidad directa entre tráfico y contaminación.</a:t>
            </a:r>
            <a:endParaRPr lang="en-US" sz="1250" dirty="0"/>
          </a:p>
        </p:txBody>
      </p:sp>
      <p:sp>
        <p:nvSpPr>
          <p:cNvPr id="9" name="Text 7"/>
          <p:cNvSpPr/>
          <p:nvPr/>
        </p:nvSpPr>
        <p:spPr>
          <a:xfrm>
            <a:off x="548640" y="4709160"/>
            <a:ext cx="5212080" cy="457200"/>
          </a:xfrm>
          <a:prstGeom prst="rect">
            <a:avLst/>
          </a:prstGeom>
          <a:noFill/>
          <a:ln/>
        </p:spPr>
        <p:txBody>
          <a:bodyPr wrap="square" rtlCol="0" anchor="ctr"/>
          <a:lstStyle/>
          <a:p>
            <a:pPr indent="0" marL="0">
              <a:buNone/>
            </a:pPr>
            <a:r>
              <a:rPr lang="en-US" sz="1250" dirty="0">
                <a:solidFill>
                  <a:srgbClr val="6B7078"/>
                </a:solidFill>
                <a:latin typeface="Calibri" pitchFamily="34" charset="0"/>
                <a:ea typeface="Calibri" pitchFamily="34" charset="-122"/>
                <a:cs typeface="Calibri" pitchFamily="34" charset="-120"/>
              </a:rPr>
              <a:t>•  No se midió el efecto en salud de la población, solo la exposición ambiental.</a:t>
            </a:r>
            <a:endParaRPr lang="en-US" sz="1250" dirty="0"/>
          </a:p>
        </p:txBody>
      </p:sp>
      <p:sp>
        <p:nvSpPr>
          <p:cNvPr id="10" name="Text 8"/>
          <p:cNvSpPr/>
          <p:nvPr/>
        </p:nvSpPr>
        <p:spPr>
          <a:xfrm>
            <a:off x="6172200" y="1783080"/>
            <a:ext cx="5394960" cy="320040"/>
          </a:xfrm>
          <a:prstGeom prst="rect">
            <a:avLst/>
          </a:prstGeom>
          <a:noFill/>
          <a:ln/>
        </p:spPr>
        <p:txBody>
          <a:bodyPr wrap="square" rtlCol="0" anchor="ctr"/>
          <a:lstStyle/>
          <a:p>
            <a:pPr indent="0" marL="0">
              <a:buNone/>
            </a:pPr>
            <a:r>
              <a:rPr lang="en-US" sz="1400" b="1" dirty="0">
                <a:solidFill>
                  <a:srgbClr val="23262B"/>
                </a:solidFill>
                <a:latin typeface="Calibri" pitchFamily="34" charset="0"/>
                <a:ea typeface="Calibri" pitchFamily="34" charset="-122"/>
                <a:cs typeface="Calibri" pitchFamily="34" charset="-120"/>
              </a:rPr>
              <a:t>Recomendaciones accionables</a:t>
            </a:r>
            <a:endParaRPr lang="en-US" sz="1400" dirty="0"/>
          </a:p>
        </p:txBody>
      </p:sp>
      <p:sp>
        <p:nvSpPr>
          <p:cNvPr id="11" name="Shape 9"/>
          <p:cNvSpPr/>
          <p:nvPr/>
        </p:nvSpPr>
        <p:spPr>
          <a:xfrm>
            <a:off x="6172200" y="2194560"/>
            <a:ext cx="548640" cy="548640"/>
          </a:xfrm>
          <a:prstGeom prst="ellipse">
            <a:avLst/>
          </a:prstGeom>
          <a:solidFill>
            <a:srgbClr val="E9A23B"/>
          </a:solidFill>
          <a:ln/>
        </p:spPr>
      </p:sp>
      <p:pic>
        <p:nvPicPr>
          <p:cNvPr id="12" name="Image 0" descr="icons/wind.png">    </p:cNvPr>
          <p:cNvPicPr>
            <a:picLocks noChangeAspect="1"/>
          </p:cNvPicPr>
          <p:nvPr/>
        </p:nvPicPr>
        <p:blipFill>
          <a:blip r:embed="rId1"/>
          <a:stretch>
            <a:fillRect/>
          </a:stretch>
        </p:blipFill>
        <p:spPr>
          <a:xfrm>
            <a:off x="6243523" y="2265883"/>
            <a:ext cx="405994" cy="405994"/>
          </a:xfrm>
          <a:prstGeom prst="rect">
            <a:avLst/>
          </a:prstGeom>
        </p:spPr>
      </p:pic>
      <p:sp>
        <p:nvSpPr>
          <p:cNvPr id="13" name="Text 10"/>
          <p:cNvSpPr/>
          <p:nvPr/>
        </p:nvSpPr>
        <p:spPr>
          <a:xfrm>
            <a:off x="6903720" y="2148840"/>
            <a:ext cx="4663440" cy="1005840"/>
          </a:xfrm>
          <a:prstGeom prst="rect">
            <a:avLst/>
          </a:prstGeom>
          <a:noFill/>
          <a:ln/>
        </p:spPr>
        <p:txBody>
          <a:bodyPr wrap="square" rtlCol="0" anchor="ctr"/>
          <a:lstStyle/>
          <a:p>
            <a:pPr indent="0" marL="0">
              <a:lnSpc>
                <a:spcPct val="115000"/>
              </a:lnSpc>
              <a:buNone/>
            </a:pPr>
            <a:r>
              <a:rPr lang="en-US" sz="1250" dirty="0">
                <a:solidFill>
                  <a:srgbClr val="23262B"/>
                </a:solidFill>
                <a:latin typeface="Calibri" pitchFamily="34" charset="0"/>
                <a:ea typeface="Calibri" pitchFamily="34" charset="-122"/>
                <a:cs typeface="Calibri" pitchFamily="34" charset="-120"/>
              </a:rPr>
              <a:t>Evitar actividad física al aire libre en Carvajal-Sevillana, Kennedy y Móvil 7ma, sobre todo en marzo y febrero.</a:t>
            </a:r>
            <a:endParaRPr lang="en-US" sz="1250" dirty="0"/>
          </a:p>
        </p:txBody>
      </p:sp>
      <p:sp>
        <p:nvSpPr>
          <p:cNvPr id="14" name="Shape 11"/>
          <p:cNvSpPr/>
          <p:nvPr/>
        </p:nvSpPr>
        <p:spPr>
          <a:xfrm>
            <a:off x="6172200" y="3429000"/>
            <a:ext cx="548640" cy="548640"/>
          </a:xfrm>
          <a:prstGeom prst="ellipse">
            <a:avLst/>
          </a:prstGeom>
          <a:solidFill>
            <a:srgbClr val="E9A23B"/>
          </a:solidFill>
          <a:ln/>
        </p:spPr>
      </p:sp>
      <p:pic>
        <p:nvPicPr>
          <p:cNvPr id="15" name="Image 1" descr="icons/chart.png">    </p:cNvPr>
          <p:cNvPicPr>
            <a:picLocks noChangeAspect="1"/>
          </p:cNvPicPr>
          <p:nvPr/>
        </p:nvPicPr>
        <p:blipFill>
          <a:blip r:embed="rId2"/>
          <a:stretch>
            <a:fillRect/>
          </a:stretch>
        </p:blipFill>
        <p:spPr>
          <a:xfrm>
            <a:off x="6243523" y="3500323"/>
            <a:ext cx="405994" cy="405994"/>
          </a:xfrm>
          <a:prstGeom prst="rect">
            <a:avLst/>
          </a:prstGeom>
        </p:spPr>
      </p:pic>
      <p:sp>
        <p:nvSpPr>
          <p:cNvPr id="16" name="Text 12"/>
          <p:cNvSpPr/>
          <p:nvPr/>
        </p:nvSpPr>
        <p:spPr>
          <a:xfrm>
            <a:off x="6903720" y="3383280"/>
            <a:ext cx="4663440" cy="1005840"/>
          </a:xfrm>
          <a:prstGeom prst="rect">
            <a:avLst/>
          </a:prstGeom>
          <a:noFill/>
          <a:ln/>
        </p:spPr>
        <p:txBody>
          <a:bodyPr wrap="square" rtlCol="0" anchor="ctr"/>
          <a:lstStyle/>
          <a:p>
            <a:pPr indent="0" marL="0">
              <a:lnSpc>
                <a:spcPct val="115000"/>
              </a:lnSpc>
              <a:buNone/>
            </a:pPr>
            <a:r>
              <a:rPr lang="en-US" sz="1250" dirty="0">
                <a:solidFill>
                  <a:srgbClr val="23262B"/>
                </a:solidFill>
                <a:latin typeface="Calibri" pitchFamily="34" charset="0"/>
                <a:ea typeface="Calibri" pitchFamily="34" charset="-122"/>
                <a:cs typeface="Calibri" pitchFamily="34" charset="-120"/>
              </a:rPr>
              <a:t>Consultar el reporte diario de calidad del aire de la RMCAB antes de salir.</a:t>
            </a:r>
            <a:endParaRPr lang="en-US" sz="1250" dirty="0"/>
          </a:p>
        </p:txBody>
      </p:sp>
      <p:sp>
        <p:nvSpPr>
          <p:cNvPr id="17" name="Shape 13"/>
          <p:cNvSpPr/>
          <p:nvPr/>
        </p:nvSpPr>
        <p:spPr>
          <a:xfrm>
            <a:off x="6172200" y="4663440"/>
            <a:ext cx="548640" cy="548640"/>
          </a:xfrm>
          <a:prstGeom prst="ellipse">
            <a:avLst/>
          </a:prstGeom>
          <a:solidFill>
            <a:srgbClr val="E9A23B"/>
          </a:solidFill>
          <a:ln/>
        </p:spPr>
      </p:sp>
      <p:pic>
        <p:nvPicPr>
          <p:cNvPr id="18" name="Image 2" descr="icons/hospital.png">    </p:cNvPr>
          <p:cNvPicPr>
            <a:picLocks noChangeAspect="1"/>
          </p:cNvPicPr>
          <p:nvPr/>
        </p:nvPicPr>
        <p:blipFill>
          <a:blip r:embed="rId3"/>
          <a:stretch>
            <a:fillRect/>
          </a:stretch>
        </p:blipFill>
        <p:spPr>
          <a:xfrm>
            <a:off x="6243523" y="4734763"/>
            <a:ext cx="405994" cy="405994"/>
          </a:xfrm>
          <a:prstGeom prst="rect">
            <a:avLst/>
          </a:prstGeom>
        </p:spPr>
      </p:pic>
      <p:sp>
        <p:nvSpPr>
          <p:cNvPr id="19" name="Text 14"/>
          <p:cNvSpPr/>
          <p:nvPr/>
        </p:nvSpPr>
        <p:spPr>
          <a:xfrm>
            <a:off x="6903720" y="4617720"/>
            <a:ext cx="4663440" cy="1005840"/>
          </a:xfrm>
          <a:prstGeom prst="rect">
            <a:avLst/>
          </a:prstGeom>
          <a:noFill/>
          <a:ln/>
        </p:spPr>
        <p:txBody>
          <a:bodyPr wrap="square" rtlCol="0" anchor="ctr"/>
          <a:lstStyle/>
          <a:p>
            <a:pPr indent="0" marL="0">
              <a:lnSpc>
                <a:spcPct val="115000"/>
              </a:lnSpc>
              <a:buNone/>
            </a:pPr>
            <a:r>
              <a:rPr lang="en-US" sz="1250" dirty="0">
                <a:solidFill>
                  <a:srgbClr val="23262B"/>
                </a:solidFill>
                <a:latin typeface="Calibri" pitchFamily="34" charset="0"/>
                <a:ea typeface="Calibri" pitchFamily="34" charset="-122"/>
                <a:cs typeface="Calibri" pitchFamily="34" charset="-120"/>
              </a:rPr>
              <a:t>Preferir espacios cerrados con ventilación filtrada en días “Dañino para sensibles” o superior.</a:t>
            </a:r>
            <a:endParaRPr lang="en-US" sz="1250" dirty="0"/>
          </a:p>
        </p:txBody>
      </p:sp>
      <p:sp>
        <p:nvSpPr>
          <p:cNvPr id="20" name="Text 15"/>
          <p:cNvSpPr/>
          <p:nvPr/>
        </p:nvSpPr>
        <p:spPr>
          <a:xfrm>
            <a:off x="11475720" y="6473952"/>
            <a:ext cx="548640" cy="274320"/>
          </a:xfrm>
          <a:prstGeom prst="rect">
            <a:avLst/>
          </a:prstGeom>
          <a:noFill/>
          <a:ln/>
        </p:spPr>
        <p:txBody>
          <a:bodyPr wrap="square" rtlCol="0" anchor="ctr"/>
          <a:lstStyle/>
          <a:p>
            <a:pPr algn="r" indent="0" marL="0">
              <a:buNone/>
            </a:pPr>
            <a:r>
              <a:rPr lang="en-US" sz="1000" dirty="0">
                <a:solidFill>
                  <a:srgbClr val="6B7078"/>
                </a:solidFill>
                <a:latin typeface="Calibri" pitchFamily="34" charset="0"/>
                <a:ea typeface="Calibri" pitchFamily="34" charset="-122"/>
                <a:cs typeface="Calibri" pitchFamily="34" charset="-120"/>
              </a:rPr>
              <a:t>14</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23262B"/>
        </a:solidFill>
      </p:bgPr>
    </p:bg>
    <p:spTree>
      <p:nvGrpSpPr>
        <p:cNvPr id="1" name=""/>
        <p:cNvGrpSpPr/>
        <p:nvPr/>
      </p:nvGrpSpPr>
      <p:grpSpPr>
        <a:xfrm>
          <a:off x="0" y="0"/>
          <a:ext cx="0" cy="0"/>
          <a:chOff x="0" y="0"/>
          <a:chExt cx="0" cy="0"/>
        </a:xfrm>
      </p:grpSpPr>
      <p:sp>
        <p:nvSpPr>
          <p:cNvPr id="2" name="Text 0"/>
          <p:cNvSpPr/>
          <p:nvPr/>
        </p:nvSpPr>
        <p:spPr>
          <a:xfrm>
            <a:off x="640080" y="1463040"/>
            <a:ext cx="7315200" cy="914400"/>
          </a:xfrm>
          <a:prstGeom prst="rect">
            <a:avLst/>
          </a:prstGeom>
          <a:noFill/>
          <a:ln/>
        </p:spPr>
        <p:txBody>
          <a:bodyPr wrap="square"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Gracias</a:t>
            </a:r>
            <a:endParaRPr lang="en-US" sz="4000" dirty="0"/>
          </a:p>
        </p:txBody>
      </p:sp>
      <p:sp>
        <p:nvSpPr>
          <p:cNvPr id="3" name="Text 1"/>
          <p:cNvSpPr/>
          <p:nvPr/>
        </p:nvSpPr>
        <p:spPr>
          <a:xfrm>
            <a:off x="640080" y="2286000"/>
            <a:ext cx="7315200" cy="457200"/>
          </a:xfrm>
          <a:prstGeom prst="rect">
            <a:avLst/>
          </a:prstGeom>
          <a:noFill/>
          <a:ln/>
        </p:spPr>
        <p:txBody>
          <a:bodyPr wrap="square" rtlCol="0" anchor="ctr"/>
          <a:lstStyle/>
          <a:p>
            <a:pPr indent="0" marL="0">
              <a:buNone/>
            </a:pPr>
            <a:r>
              <a:rPr lang="en-US" sz="1800" i="1" dirty="0">
                <a:solidFill>
                  <a:srgbClr val="E9A23B"/>
                </a:solidFill>
                <a:latin typeface="Calibri" pitchFamily="34" charset="0"/>
                <a:ea typeface="Calibri" pitchFamily="34" charset="-122"/>
                <a:cs typeface="Calibri" pitchFamily="34" charset="-120"/>
              </a:rPr>
              <a:t>¿Preguntas?</a:t>
            </a:r>
            <a:endParaRPr lang="en-US" sz="1800" dirty="0"/>
          </a:p>
        </p:txBody>
      </p:sp>
      <p:sp>
        <p:nvSpPr>
          <p:cNvPr id="4" name="Shape 2"/>
          <p:cNvSpPr/>
          <p:nvPr/>
        </p:nvSpPr>
        <p:spPr>
          <a:xfrm>
            <a:off x="658368" y="3017520"/>
            <a:ext cx="2011680" cy="0"/>
          </a:xfrm>
          <a:prstGeom prst="line">
            <a:avLst/>
          </a:prstGeom>
          <a:noFill/>
          <a:ln w="25400">
            <a:solidFill>
              <a:srgbClr val="E9A23B"/>
            </a:solidFill>
            <a:prstDash val="solid"/>
          </a:ln>
        </p:spPr>
      </p:sp>
      <p:sp>
        <p:nvSpPr>
          <p:cNvPr id="5" name="Text 3"/>
          <p:cNvSpPr/>
          <p:nvPr/>
        </p:nvSpPr>
        <p:spPr>
          <a:xfrm>
            <a:off x="640080" y="3291840"/>
            <a:ext cx="3657600" cy="320040"/>
          </a:xfrm>
          <a:prstGeom prst="rect">
            <a:avLst/>
          </a:prstGeom>
          <a:noFill/>
          <a:ln/>
        </p:spPr>
        <p:txBody>
          <a:bodyPr wrap="square" rtlCol="0" anchor="ctr"/>
          <a:lstStyle/>
          <a:p>
            <a:pPr indent="0" marL="0">
              <a:buNone/>
            </a:pPr>
            <a:r>
              <a:rPr lang="en-US" sz="1300" b="1" dirty="0">
                <a:solidFill>
                  <a:srgbClr val="E9A23B"/>
                </a:solidFill>
                <a:latin typeface="Calibri" pitchFamily="34" charset="0"/>
                <a:ea typeface="Calibri" pitchFamily="34" charset="-122"/>
                <a:cs typeface="Calibri" pitchFamily="34" charset="-120"/>
              </a:rPr>
              <a:t>Referencias</a:t>
            </a:r>
            <a:endParaRPr lang="en-US" sz="1300" dirty="0"/>
          </a:p>
        </p:txBody>
      </p:sp>
      <p:sp>
        <p:nvSpPr>
          <p:cNvPr id="6" name="Text 4"/>
          <p:cNvSpPr/>
          <p:nvPr/>
        </p:nvSpPr>
        <p:spPr>
          <a:xfrm>
            <a:off x="640080" y="3657600"/>
            <a:ext cx="10515600" cy="411480"/>
          </a:xfrm>
          <a:prstGeom prst="rect">
            <a:avLst/>
          </a:prstGeom>
          <a:noFill/>
          <a:ln/>
        </p:spPr>
        <p:txBody>
          <a:bodyPr wrap="square" rtlCol="0" anchor="ctr"/>
          <a:lstStyle/>
          <a:p>
            <a:pPr indent="0" marL="0">
              <a:buNone/>
            </a:pPr>
            <a:r>
              <a:rPr lang="en-US" sz="1250" dirty="0">
                <a:solidFill>
                  <a:srgbClr val="C7C9CE"/>
                </a:solidFill>
                <a:latin typeface="Calibri" pitchFamily="34" charset="0"/>
                <a:ea typeface="Calibri" pitchFamily="34" charset="-122"/>
                <a:cs typeface="Calibri" pitchFamily="34" charset="-120"/>
              </a:rPr>
              <a:t>•  Air Quality Bogotá. Mendeley Data. data.mendeley.com/datasets/z6wtdbkc5b/3</a:t>
            </a:r>
            <a:endParaRPr lang="en-US" sz="1250" dirty="0"/>
          </a:p>
        </p:txBody>
      </p:sp>
      <p:sp>
        <p:nvSpPr>
          <p:cNvPr id="7" name="Text 5"/>
          <p:cNvSpPr/>
          <p:nvPr/>
        </p:nvSpPr>
        <p:spPr>
          <a:xfrm>
            <a:off x="640080" y="4114800"/>
            <a:ext cx="10515600" cy="411480"/>
          </a:xfrm>
          <a:prstGeom prst="rect">
            <a:avLst/>
          </a:prstGeom>
          <a:noFill/>
          <a:ln/>
        </p:spPr>
        <p:txBody>
          <a:bodyPr wrap="square" rtlCol="0" anchor="ctr"/>
          <a:lstStyle/>
          <a:p>
            <a:pPr indent="0" marL="0">
              <a:buNone/>
            </a:pPr>
            <a:r>
              <a:rPr lang="en-US" sz="1250" dirty="0">
                <a:solidFill>
                  <a:srgbClr val="C7C9CE"/>
                </a:solidFill>
                <a:latin typeface="Calibri" pitchFamily="34" charset="0"/>
                <a:ea typeface="Calibri" pitchFamily="34" charset="-122"/>
                <a:cs typeface="Calibri" pitchFamily="34" charset="-120"/>
              </a:rPr>
              <a:t>•  Red de Monitoreo de Calidad del Aire de Bogotá (RMCAB), Secretaría de Ambiente.</a:t>
            </a:r>
            <a:endParaRPr lang="en-US" sz="1250" dirty="0"/>
          </a:p>
        </p:txBody>
      </p:sp>
      <p:sp>
        <p:nvSpPr>
          <p:cNvPr id="8" name="Text 6"/>
          <p:cNvSpPr/>
          <p:nvPr/>
        </p:nvSpPr>
        <p:spPr>
          <a:xfrm>
            <a:off x="640080" y="4572000"/>
            <a:ext cx="10515600" cy="411480"/>
          </a:xfrm>
          <a:prstGeom prst="rect">
            <a:avLst/>
          </a:prstGeom>
          <a:noFill/>
          <a:ln/>
        </p:spPr>
        <p:txBody>
          <a:bodyPr wrap="square" rtlCol="0" anchor="ctr"/>
          <a:lstStyle/>
          <a:p>
            <a:pPr indent="0" marL="0">
              <a:buNone/>
            </a:pPr>
            <a:r>
              <a:rPr lang="en-US" sz="1250" dirty="0">
                <a:solidFill>
                  <a:srgbClr val="C7C9CE"/>
                </a:solidFill>
                <a:latin typeface="Calibri" pitchFamily="34" charset="0"/>
                <a:ea typeface="Calibri" pitchFamily="34" charset="-122"/>
                <a:cs typeface="Calibri" pitchFamily="34" charset="-120"/>
              </a:rPr>
              <a:t>•  Organización Mundial de la Salud (OMS) — Guías de calidad del aire, valores guía de PM2.5.</a:t>
            </a:r>
            <a:endParaRPr lang="en-US" sz="1250" dirty="0"/>
          </a:p>
        </p:txBody>
      </p:sp>
      <p:sp>
        <p:nvSpPr>
          <p:cNvPr id="9" name="Text 7"/>
          <p:cNvSpPr/>
          <p:nvPr/>
        </p:nvSpPr>
        <p:spPr>
          <a:xfrm>
            <a:off x="640080" y="6217920"/>
            <a:ext cx="8229600" cy="365760"/>
          </a:xfrm>
          <a:prstGeom prst="rect">
            <a:avLst/>
          </a:prstGeom>
          <a:noFill/>
          <a:ln/>
        </p:spPr>
        <p:txBody>
          <a:bodyPr wrap="square" rtlCol="0" anchor="ctr"/>
          <a:lstStyle/>
          <a:p>
            <a:pPr indent="0" marL="0">
              <a:buNone/>
            </a:pPr>
            <a:r>
              <a:rPr lang="en-US" sz="1150" dirty="0">
                <a:solidFill>
                  <a:srgbClr val="9AA0A8"/>
                </a:solidFill>
                <a:latin typeface="Calibri" pitchFamily="34" charset="0"/>
                <a:ea typeface="Calibri" pitchFamily="34" charset="-122"/>
                <a:cs typeface="Calibri" pitchFamily="34" charset="-120"/>
              </a:rPr>
              <a:t>Javier Meneses · Alejandra Baquero — DataXperience, Universidad EAN</a:t>
            </a:r>
            <a:endParaRPr lang="en-US" sz="11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2026-09-16T05:57:07Z</dcterms:created>
  <dcterms:modified xsi:type="dcterms:W3CDTF">2026-09-16T05:57:07Z</dcterms:modified>
</cp:coreProperties>
</file>